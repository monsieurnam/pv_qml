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Em xin báo cáo hướng photonic QML cho dự báo xác suất công suất điện mặt trời trước mười lăm phút. Câu hỏi chính là liệu đặc trưng tạo bởi hệ quang học lượng tử có bổ sung thông tin dự đoán hữu ích so với các cách xử lý cổ điển hay không. Luồng bên phải cho thấy vai trò dự kiến của thành phần quang học: nhận lịch sử PV, biến đổi thành đặc trưng, rồi đưa vào mô hình dự báo quantile.</a:t>
            </a:r>
          </a:p>
          <a:p>
            <a:pPr/>
            <a:endParaRPr lang="en-US" dirty="0"/>
          </a:p>
          <a:p>
            <a:pPr/>
            <a:r>
              <a:rPr lang="en-US" dirty="0"/>
              <a:t>Tại ngày hai mươi tháng mười, dự án đã có dữ liệu thật và pipeline để thực hiện phép thử. Bằng chứng thực thi gần nhất được lưu ngày mười sáu tháng mười. Full benchmark trên dữ liệu thật vẫn chưa chạy; vì vậy báo cáo này trình bày cơ sở lựa chọn, thiết kế và tiến độ, chưa đưa ra kết luận quantum advantage hay tốc độ phần cứng. Thông điệp cần giữ là dữ liệu đã sẵn sàng, còn giá trị của mô hình phải được kiểm chứng.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Động cơ ban đầu là tìm một hướng QML phù hợp với nhu cầu nghiên cứu công nghiệp của Quanova. Hướng đó phải đồng thời có ba yếu tố: một target đo được với dữ liệu có nguồn gốc rõ; một giả thuyết khoa học có thể kiểm tra và bác bỏ; và một thử nghiệm khả thi khi chưa có QPU. Vì vậy, dự án bắt đầu bằng mô phỏng nhỏ trước khi đề nghị đầu tư phần cứng.</a:t>
            </a:r>
          </a:p>
          <a:p>
            <a:pPr/>
            <a:endParaRPr lang="en-US" dirty="0"/>
          </a:p>
          <a:p>
            <a:pPr/>
            <a:r>
              <a:rPr lang="en-US" dirty="0"/>
              <a:t>Các ứng viên đã khảo sát gồm tài chính, tín hiệu và bất thường thiết bị, tính chất phân tử hoặc vật liệu, cùng các bài toán chuỗi thời gian. Ảnh bên phải là hệ Roof Tilted Array thật tại NIST, lấy từ trang chính thức nist.gov, giúp gắn bài toán dự báo với một hệ thống đo thực tế. Đây không phải hệ thống do Quanova sở hữu. Phần này dựa trên hồ sơ industry-first QML ngày hai mươi sáu tháng chín. Từ các điều kiện ban đầu này, nhóm tiếp tục xem literature để biết phải kiểm chứng điều gì.</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Khảo sát literature dẫn đến ba thay đổi thiết kế. Thứ nhất, công trình Better than classical của Bowles và cộng sự nhấn mạnh việc dùng baseline cổ điển mạnh và đối chứng công bằng. Nếu chỉ so với một mô hình yếu thì kết quả tốt hơn chưa đủ nói lên vai trò của lượng tử.</a:t>
            </a:r>
          </a:p>
          <a:p>
            <a:pPr/>
            <a:endParaRPr lang="en-US" dirty="0"/>
          </a:p>
          <a:p>
            <a:pPr/>
            <a:r>
              <a:rPr lang="en-US" dirty="0"/>
              <a:t>Thứ hai, các nghiên cứu photonic kernel năm hai nghìn không trăm hai mươi lăm và forecasting nhiều photon của Di Bartolo năm hai nghìn không trăm hai mươi sáu cho thấy cần tách đóng góp của giao thoa khỏi nguồn bộ nhớ. Bởi vậy thiết kế hiện tại phải có đối chứng photon phân biệt được và ghi rõ bộ nhớ nằm trong cửa sổ cổ điển.</a:t>
            </a:r>
          </a:p>
          <a:p>
            <a:pPr/>
            <a:endParaRPr lang="en-US" dirty="0"/>
          </a:p>
          <a:p>
            <a:pPr/>
            <a:r>
              <a:rPr lang="en-US" dirty="0"/>
              <a:t>Thứ ba, Ahmed đã nghiên cứu finite sampling, còn Mills và Mezher đã nghiên cứu giảm ảnh hưởng mất photon. Những hướng này có tiền lệ, nên không thể coi quét shots hoặc thêm loss là novelty tự thân. Sagingalieva và cộng sự cũng đã công bố QML cho dự báo PV. Damping, topology và weak measurement đều đã có nghiên cứu trước. Các khảo sát ở đây có mục tiêu, không phải systematic review toàn ngành; danh mục đầy đủ được lưu trong sources/Photonic_PV_pilot_20260926_references.md của repository.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PV được chọn làm phép thử đầu tiên vì có công suất và thời tiết đo thật công khai, target ngắn hạn có thể định nghĩa chính xác, và nhiều baseline xác suất rõ ràng. Những điều này giúp thực hiện một phép so sánh tái lập được, thay vì chọn ứng dụng chỉ vì có tên lượng tử.</a:t>
            </a:r>
          </a:p>
          <a:p>
            <a:pPr/>
            <a:endParaRPr lang="en-US" dirty="0"/>
          </a:p>
          <a:p>
            <a:pPr/>
            <a:r>
              <a:rPr lang="en-US" dirty="0"/>
              <a:t>Giả thuyết là đặc trưng của photon không phân biệt được có thể cải thiện chất lượng dự báo vượt các feature maps cổ điển và phiên bản photon phân biệt được. Giả thuyết này hoàn toàn có thể không được dữ liệu ủng hộ. Phạm vi đang triển khai chỉ là mô phỏng exact với hai photon và bốn mode. Finite shots, loss, chuyển site và phần cứng là các bước sau, có điều kiện. Chưa có cơ sở để nói tổ hợp đề xuất đã được xác nhận mới hoặc chắc chắn tạo lợi ích. Căn cứ thiết kế nằm trong Photonic_PV_pilot_review_20260926.md và cấu hình NIST đã được ghi phê duyệt.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Sơ đồ đi từ input ở trên, qua các nhánh mô hình, đến output chung bên phải. Input matched gồm công suất hiện tại, công suất trước mười lăm phút, bức xạ và nhiệt độ. GHI là tên trường pipeline; cảm biến NIST thực tế là silicon reference cell nằm ngang. Scaling chỉ fit trên train. Bộ nhớ nằm trong lag cổ điển, không có trạng thái lượng tử lưu giữa các timestamp.</a:t>
            </a:r>
          </a:p>
          <a:p>
            <a:pPr/>
            <a:endParaRPr lang="en-US" dirty="0"/>
          </a:p>
          <a:p>
            <a:pPr/>
            <a:r>
              <a:rPr lang="en-US" dirty="0"/>
              <a:t>Nhánh đề xuất dùng hai photon trên bốn mode: Fock input qua V một cố định, pha phụ thuộc dữ liệu, rồi V hai cố định. Mười xác suất đo exact từ Perceval SLOS trở thành features cho quantile head huấn luyện cổ điển. Năm seeds kiểm tra độ nhạy mạch. Nhánh control đổi sang photon phân biệt được nhưng giữ circuit, input và chính sách readout. Nhánh cổ điển gồm raw inputs hoặc mười random Fourier features qua quantile head, cùng quantile XGBoost và persistence. XGBoost dùng sáu lag từ không đến sáu mươi phút, weather hiện tại và hình học mặt trời: đây là baseline ứng dụng mạnh, không phải đối chứng cùng input. Persistence dùng công suất hiện tại cộng phân vị residual fit trên train.</a:t>
            </a:r>
          </a:p>
          <a:p>
            <a:pPr/>
            <a:endParaRPr lang="en-US" dirty="0"/>
          </a:p>
          <a:p>
            <a:pPr/>
            <a:r>
              <a:rPr lang="en-US" dirty="0"/>
              <a:t>Output gồm bảy quantile công suất: 0.05, 0.10, 0.25, 0.50, 0.75, 0.90 và 0.95. Target là trung bình bin năm phút kết thúc ở t cộng mười lăm, không phải trung bình cả mười lăm phút tiếp theo. q50 là trung vị; q05 đến q95 tạo khoảng chín mươi phần trăm. WIS và skill đánh giá chất lượng; coverage và width đánh giá calibration và độ rộng; runtime và RAM đánh giá chi phí. Đây là kiến trúc và phép thử dự kiến, chưa có điểm số mô hình thật.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Thiết kế có hai phép so sánh vì chúng trả lời hai câu hỏi khác nhau. Giá trị ứng dụng được kiểm tra bằng persistence, raw inputs với quantile head, random Fourier features với cùng head, và quantile XGBoost dùng các lag mạnh hơn. Đóng góp của giao thoa được kiểm tra bằng photon không phân biệt và photon phân biệt trên cùng circuit, đầu vào và chính sách readout.</a:t>
            </a:r>
          </a:p>
          <a:p>
            <a:pPr/>
            <a:endParaRPr lang="en-US" dirty="0"/>
          </a:p>
          <a:p>
            <a:pPr/>
            <a:r>
              <a:rPr lang="en-US" dirty="0"/>
              <a:t>Train và validation phục vụ scaling, lựa chọn siêu tham số và chọn baseline B. Chỉ sau khi khóa lựa chọn mới đánh giá holdout năm hai nghìn không trăm mười bảy. WIS, tức weighted interval score, là chỉ số chính, chuẩn hóa theo công suất định mức và thấp hơn tốt hơn. WIS kết hợp độ rộng khoảng với mức phạt khi target nằm ngoài khoảng. Skill bằng một trừ WIS của system chia WIS của B; dương nghĩa là tốt hơn B. System bao gồm chính sách fallback đã đăng ký khi nhánh photonic thất bại, không chỉ các timestamp thành công. Coverage chín mươi phần trăm đo tỷ lệ quan trắc nằm trong q05 đến q95; width là độ rộng khoảng chia công suất định mức. Chi phí ghi wall-clock runtime và peak RAM. Paired bootstrap dùng khối một ngày, hai nghìn lần lặp, kiểm tra nhạy với khối hai và bảy ngày để đánh giá bất định có phụ thuộc thời gian.</a:t>
            </a:r>
          </a:p>
          <a:p>
            <a:pPr/>
            <a:endParaRPr lang="en-US" dirty="0"/>
          </a:p>
          <a:p>
            <a:pPr/>
            <a:r>
              <a:rPr lang="en-US" dirty="0"/>
              <a:t>Theo protocol, điều kiện đi tiếp gồm cận dưới khoảng tin cậy chín mươi lăm phần trăm của relative system WIS skill lớn hơn hai phần trăm, coverage của khoảng chín mươi phần trăm nằm trong tám mươi lăm đến chín mươi lăm phần trăm, và tài nguyên đạt gate. Đây là tiêu chí đã đăng ký, chưa phải kết quả mô hình.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Dữ liệu chính là NIST Roof, gồm AC power, bức xạ và nhiệt độ môi trường. Metadata AC là bảy mươi lăm kilowatt; không nhầm với công suất DC của các panel. Nguồn một phút được gộp thành bin năm phút chỉ khi đủ quan sát, không nội suy. Sau điều kiện daylight, lịch sử, target và continuity, train năm hai nghìn không trăm mười lăm có năm mươi mốt nghìn bốn trăm linh năm mẫu; validation năm tiếp theo có bốn mươi bảy nghìn bốn trăm tám mươi bảy; test năm hai nghìn không trăm mười bảy có bốn mươi ba nghìn tám trăm linh sáu.</a:t>
            </a:r>
          </a:p>
          <a:p>
            <a:pPr/>
            <a:endParaRPr lang="en-US" dirty="0"/>
          </a:p>
          <a:p>
            <a:pPr/>
            <a:r>
              <a:rPr lang="en-US" dirty="0"/>
              <a:t>Đồ thị là hai mươi lăm quan trắc liên tục của ngày mùng một tháng sáu năm hai nghìn không trăm mười lăm, chỉ lấy từ train. Nét liền là lịch sử sẵn có trước hoặc tại mười hai giờ; nét đứt là quan trắc về sau được hiện lại để giải thích nhãn, không phải prediction và không được dùng làm input. Khi issue lúc mười hai giờ, target là công suất trung bình của bin từ mười hai giờ mười đến mười hai giờ mười lăm: năm mươi mốt phẩy bảy mốt kilowatt trong ví dụ này. Giờ nguồn là EST cố định rồi chuyển UTC. Delay bằng không chỉ là giả định offline. Nguồn và hash được lưu trong train_example_provenance.json; kênh bức xạ là silicon reference cell, không phải thermopile pyranometer.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Đây là bằng chứng đã đo về độ sẵn có dữ liệu. Hai dãy cột phân biệt coverage của dữ liệu canonical và coverage sau khi yêu cầu đủ mẫu xây dựng features. Train có các tỷ lệ xấp xỉ chín mươi tám phẩy chín và chín mươi sáu phẩy sáu phần trăm; validation là chín mươi bảy phẩy ba và tám mươi chín phần trăm; test là chín mươi bảy phẩy sáu và tám mươi hai phẩy ba phần trăm. Các split đều qua ngưỡng canonical chín mươi phần trăm và eligible tám mươi phần trăm.</a:t>
            </a:r>
          </a:p>
          <a:p>
            <a:pPr/>
            <a:endParaRPr lang="en-US" dirty="0"/>
          </a:p>
          <a:p>
            <a:pPr/>
            <a:r>
              <a:rPr lang="en-US" dirty="0"/>
              <a:t>Test còn có một trăm năm mươi bảy ngày đạt chuẩn và ba mươi lăm tuần đủ chuẩn không chồng lấn, vượt yêu cầu một trăm năm mươi ngày và hai mươi tuần. Một ngày usable phải đạt coverage eligible ít nhất chín mươi phần trăm; tuần dùng pooled coverage tám mươi phần trăm. Đây là data availability, khác coverage của prediction intervals ở slide trước. Audit authenticated ngày mười sáu tháng mười ghi PASS. Do complete issue log không có, dự án đã dùng amendment cho phép instrument history và QC định lượng thay thế; vẫn có thể còn lỗi chưa gắn nhãn. Audit không chứng minh hiệu quả forecasting hoặc khả năng suy rộng sang PV Việt Nam.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Về tiến độ, nhóm đã xây dựng pipeline và kiểm tra end-to-end trên dữ liệu tổng hợp, chuẩn bị dữ liệu NIST thật, audit khả dụng, dựng chronological splits và profiling trên train. Checkpoint phần mềm đầu tháng mười ghi nhận bảy trăm hai mươi mốt tests passed và hai lượt synthetic end-to-end accepted, nhưng đó là bằng chứng phần mềm lịch sử, chưa phải scientific acceptance cho mô hình thật.</a:t>
            </a:r>
          </a:p>
          <a:p>
            <a:pPr/>
            <a:endParaRPr lang="en-US" dirty="0"/>
          </a:p>
          <a:p>
            <a:pPr/>
            <a:r>
              <a:rPr lang="en-US" dirty="0"/>
              <a:t>Controller của lần chạy ngày mười sáu tháng mười ghi chưa bắt đầu full training và chưa mở hiệu năng holdout. Kế hoạch thực thi ngoại suy benchmark toàn stage khoảng một trăm mười một giờ với đỉnh RAM khoảng ba mươi ba phẩy bốn GiB; baseline stage khoảng bảy mươi hai giờ. Các số này có hệ số dự phòng và có thể đếm chồng một số allocation. Chúng là ước lượng từ profiling, không phải thời gian full run đã đo và cũng không phải latency mỗi dự báo. Route hiện yêu cầu xác minh cloud capacity. Đây là nút thắt kỹ thuật, chưa phải kết luận mô hình tốt hoặc kém.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Bước tiếp theo gồm xác minh capacity, chạy các mô hình và đối chứng đã khóa, rồi đánh giá năm hai nghìn không trăm mười bảy sau khi model selection hoàn tất. Sau đó mới ra quyết định GO, EXTEND hoặc STOP dựa đồng thời trên WIS, calibration và tài nguyên.</a:t>
            </a:r>
          </a:p>
          <a:p>
            <a:pPr/>
            <a:endParaRPr lang="en-US" dirty="0"/>
          </a:p>
          <a:p>
            <a:pPr/>
            <a:r>
              <a:rPr lang="en-US" dirty="0"/>
              <a:t>Nếu bằng chứng đủ rõ và phù hợp ngân sách, giai đoạn sau mới kiểm tra finite shots và photon loss, rồi cân nhắc xác minh phần cứng. Nếu chỉ tốt hơn photon phân biệt nhưng không cạnh tranh với baseline mạnh thì chưa đủ lập luận cho ứng dụng. Nếu đặc trưng cổ điển giải thích được lợi ích với chi phí thấp hơn thì cần ghi nhận điều đó. Kết luận mong muốn của pilot là một câu trả lời đáng tin, dù dương, âm hay chưa phân định được. Thành phần lượng tử cần chứng minh rằng nó xứng đáng có mặt trong pipeline.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hotonic_pv_overview_10slide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hotonic_pv_overview_10slide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7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172c3fd9f0ab9d3.jp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3606077f0f98b2d.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7" name="Group 7"/>
          <p:cNvGrpSpPr/>
          <p:nvPr/>
        </p:nvGrpSpPr>
        <p:grpSpPr>
          <a:xfrm>
            <a:off x="742950" y="793432"/>
            <a:ext cx="4830318" cy="3105341"/>
            <a:chOff x="742950" y="793432"/>
            <a:chExt cx="4830318" cy="3105341"/>
          </a:xfrm>
        </p:grpSpPr>
        <p:sp>
          <p:nvSpPr>
            <p:cNvPr id="3" name="TextBox 3"/>
            <p:cNvSpPr txBox="1"/>
            <p:nvPr/>
          </p:nvSpPr>
          <p:spPr>
            <a:xfrm>
              <a:off x="753618" y="793432"/>
              <a:ext cx="3464662" cy="322707"/>
            </a:xfrm>
            <a:prstGeom prst="rect">
              <a:avLst/>
            </a:prstGeom>
            <a:noFill/>
            <a:ln>
              <a:noFill/>
            </a:ln>
          </p:spPr>
          <p:txBody>
            <a:bodyPr wrap="none" lIns="0" tIns="0" rIns="0" bIns="0" anchor="t" anchorCtr="0">
              <a:spAutoFit/>
            </a:bodyPr>
            <a:lstStyle/>
            <a:p>
              <a:pPr algn="l"/>
              <a:r>
                <a:rPr lang="en-US" sz="1650" spc="150" dirty="0">
                  <a:solidFill>
                    <a:schemeClr val="accent5"/>
                  </a:solidFill>
                  <a:latin typeface="+mn-lt"/>
                  <a:ea typeface="+mn-ea"/>
                  <a:cs typeface="+mn-cs"/>
                </a:rPr>
                <a:t>QUANOVA / RESEARCH BRIEF</a:t>
              </a:r>
            </a:p>
          </p:txBody>
        </p:sp>
        <p:sp>
          <p:nvSpPr>
            <p:cNvPr id="4" name="TextBox 4"/>
            <p:cNvSpPr txBox="1"/>
            <p:nvPr/>
          </p:nvSpPr>
          <p:spPr>
            <a:xfrm>
              <a:off x="742950" y="1283970"/>
              <a:ext cx="4214622" cy="1828800"/>
            </a:xfrm>
            <a:prstGeom prst="rect">
              <a:avLst/>
            </a:prstGeom>
            <a:noFill/>
            <a:ln>
              <a:noFill/>
            </a:ln>
          </p:spPr>
          <p:txBody>
            <a:bodyPr wrap="none" lIns="0" tIns="0" rIns="0" bIns="0" anchor="t" anchorCtr="0">
              <a:spAutoFit/>
            </a:bodyPr>
            <a:lstStyle/>
            <a:p>
              <a:pPr algn="l">
                <a:lnSpc>
                  <a:spcPts val="6150"/>
                </a:lnSpc>
              </a:pPr>
              <a:r>
                <a:rPr lang="en-US" sz="5400" b="1" dirty="0">
                  <a:solidFill>
                    <a:srgbClr val="F7F9FC"/>
                  </a:solidFill>
                  <a:latin typeface="+mn-lt"/>
                  <a:ea typeface="+mn-ea"/>
                  <a:cs typeface="+mn-cs"/>
                </a:rPr>
                <a:t>Photonic PV</a:t>
              </a:r>
              <a:br/>
              <a:r>
                <a:rPr lang="en-US" sz="5400" b="1" dirty="0">
                  <a:solidFill>
                    <a:srgbClr val="F7F9FC"/>
                  </a:solidFill>
                  <a:latin typeface="+mn-lt"/>
                  <a:ea typeface="+mn-ea"/>
                  <a:cs typeface="+mn-cs"/>
                </a:rPr>
                <a:t>forecasting</a:t>
              </a:r>
            </a:p>
          </p:txBody>
        </p:sp>
        <p:sp>
          <p:nvSpPr>
            <p:cNvPr id="5" name="Freeform 5"/>
            <p:cNvSpPr/>
            <p:nvPr/>
          </p:nvSpPr>
          <p:spPr>
            <a:xfrm>
              <a:off x="790575" y="2847975"/>
              <a:ext cx="4495800" cy="47625"/>
            </a:xfrm>
            <a:custGeom>
              <a:avLst/>
              <a:gdLst/>
              <a:ahLst/>
              <a:cxnLst/>
              <a:rect l="l" t="t" r="r" b="b"/>
              <a:pathLst>
                <a:path w="4495800" h="47625">
                  <a:moveTo>
                    <a:pt x="0" y="28575"/>
                  </a:moveTo>
                  <a:lnTo>
                    <a:pt x="1638300" y="0"/>
                  </a:lnTo>
                  <a:lnTo>
                    <a:pt x="3286125" y="47625"/>
                  </a:lnTo>
                  <a:lnTo>
                    <a:pt x="4495800" y="19050"/>
                  </a:lnTo>
                </a:path>
              </a:pathLst>
            </a:custGeom>
            <a:noFill/>
            <a:ln w="38100" cap="rnd">
              <a:solidFill>
                <a:schemeClr val="accent5"/>
              </a:solidFill>
            </a:ln>
          </p:spPr>
        </p:sp>
        <p:sp>
          <p:nvSpPr>
            <p:cNvPr id="6" name="TextBox 6"/>
            <p:cNvSpPr txBox="1"/>
            <p:nvPr/>
          </p:nvSpPr>
          <p:spPr>
            <a:xfrm>
              <a:off x="751332" y="3107055"/>
              <a:ext cx="4821936" cy="791718"/>
            </a:xfrm>
            <a:prstGeom prst="rect">
              <a:avLst/>
            </a:prstGeom>
            <a:noFill/>
            <a:ln>
              <a:noFill/>
            </a:ln>
          </p:spPr>
          <p:txBody>
            <a:bodyPr wrap="none" lIns="0" tIns="0" rIns="0" bIns="0" anchor="t" anchorCtr="0">
              <a:spAutoFit/>
            </a:bodyPr>
            <a:lstStyle/>
            <a:p>
              <a:pPr algn="l">
                <a:lnSpc>
                  <a:spcPts val="3000"/>
                </a:lnSpc>
              </a:pPr>
              <a:r>
                <a:rPr lang="en-US" sz="2100" dirty="0">
                  <a:solidFill>
                    <a:srgbClr val="E7EDF4"/>
                  </a:solidFill>
                  <a:latin typeface="+mn-lt"/>
                  <a:ea typeface="+mn-ea"/>
                  <a:cs typeface="+mn-cs"/>
                </a:rPr>
                <a:t>From an industry-first question</a:t>
              </a:r>
              <a:br/>
              <a:r>
                <a:rPr lang="en-US" sz="2100" dirty="0">
                  <a:solidFill>
                    <a:srgbClr val="E7EDF4"/>
                  </a:solidFill>
                  <a:latin typeface="+mn-lt"/>
                  <a:ea typeface="+mn-ea"/>
                  <a:cs typeface="+mn-cs"/>
                </a:rPr>
                <a:t>to a testable 15-minute-ahead pilot.</a:t>
              </a:r>
            </a:p>
          </p:txBody>
        </p:sp>
      </p:grpSp>
      <p:grpSp>
        <p:nvGrpSpPr>
          <p:cNvPr id="10" name="Group 10"/>
          <p:cNvGrpSpPr/>
          <p:nvPr/>
        </p:nvGrpSpPr>
        <p:grpSpPr>
          <a:xfrm>
            <a:off x="747522" y="4397692"/>
            <a:ext cx="4433106" cy="1062229"/>
            <a:chOff x="747522" y="4397692"/>
            <a:chExt cx="4433106" cy="1062229"/>
          </a:xfrm>
        </p:grpSpPr>
        <p:sp>
          <p:nvSpPr>
            <p:cNvPr id="8" name="TextBox 8"/>
            <p:cNvSpPr txBox="1"/>
            <p:nvPr/>
          </p:nvSpPr>
          <p:spPr>
            <a:xfrm>
              <a:off x="747522" y="4397692"/>
              <a:ext cx="2380183" cy="557403"/>
            </a:xfrm>
            <a:prstGeom prst="rect">
              <a:avLst/>
            </a:prstGeom>
            <a:noFill/>
            <a:ln>
              <a:noFill/>
            </a:ln>
          </p:spPr>
          <p:txBody>
            <a:bodyPr wrap="none" lIns="0" tIns="0" rIns="0" bIns="0" anchor="t" anchorCtr="0">
              <a:spAutoFit/>
            </a:bodyPr>
            <a:lstStyle/>
            <a:p>
              <a:pPr algn="l"/>
              <a:r>
                <a:rPr lang="en-US" sz="2850" b="1" dirty="0">
                  <a:solidFill>
                    <a:schemeClr val="accent5"/>
                  </a:solidFill>
                  <a:latin typeface="+mn-lt"/>
                  <a:ea typeface="+mn-ea"/>
                  <a:cs typeface="+mn-cs"/>
                </a:rPr>
                <a:t>Data ready.</a:t>
              </a:r>
            </a:p>
          </p:txBody>
        </p:sp>
        <p:sp>
          <p:nvSpPr>
            <p:cNvPr id="9" name="TextBox 9"/>
            <p:cNvSpPr txBox="1"/>
            <p:nvPr/>
          </p:nvSpPr>
          <p:spPr>
            <a:xfrm>
              <a:off x="747522" y="4902518"/>
              <a:ext cx="4433106" cy="557403"/>
            </a:xfrm>
            <a:prstGeom prst="rect">
              <a:avLst/>
            </a:prstGeom>
            <a:noFill/>
            <a:ln>
              <a:noFill/>
            </a:ln>
          </p:spPr>
          <p:txBody>
            <a:bodyPr wrap="none" lIns="0" tIns="0" rIns="0" bIns="0" anchor="t" anchorCtr="0">
              <a:spAutoFit/>
            </a:bodyPr>
            <a:lstStyle/>
            <a:p>
              <a:pPr algn="l"/>
              <a:r>
                <a:rPr lang="en-US" sz="2850" b="1" dirty="0">
                  <a:solidFill>
                    <a:srgbClr val="F7F9FC"/>
                  </a:solidFill>
                  <a:latin typeface="+mn-lt"/>
                  <a:ea typeface="+mn-ea"/>
                  <a:cs typeface="+mn-cs"/>
                </a:rPr>
                <a:t>Evidence still to earn.</a:t>
              </a:r>
            </a:p>
          </p:txBody>
        </p:sp>
      </p:grpSp>
      <p:grpSp>
        <p:nvGrpSpPr>
          <p:cNvPr id="19" name="Group 19"/>
          <p:cNvGrpSpPr/>
          <p:nvPr/>
        </p:nvGrpSpPr>
        <p:grpSpPr>
          <a:xfrm>
            <a:off x="8045425" y="1230630"/>
            <a:ext cx="2673401" cy="4009835"/>
            <a:chOff x="8045425" y="1230630"/>
            <a:chExt cx="2673401" cy="4009835"/>
          </a:xfrm>
        </p:grpSpPr>
        <p:sp>
          <p:nvSpPr>
            <p:cNvPr id="11" name="TextBox 11"/>
            <p:cNvSpPr txBox="1"/>
            <p:nvPr/>
          </p:nvSpPr>
          <p:spPr>
            <a:xfrm>
              <a:off x="8655812" y="1230630"/>
              <a:ext cx="1452626" cy="410718"/>
            </a:xfrm>
            <a:prstGeom prst="rect">
              <a:avLst/>
            </a:prstGeom>
            <a:noFill/>
            <a:ln>
              <a:noFill/>
            </a:ln>
          </p:spPr>
          <p:txBody>
            <a:bodyPr wrap="none" lIns="0" tIns="0" rIns="0" bIns="0" anchor="t" anchorCtr="0">
              <a:spAutoFit/>
            </a:bodyPr>
            <a:lstStyle/>
            <a:p>
              <a:pPr algn="ctr"/>
              <a:r>
                <a:rPr lang="en-US" sz="2100" dirty="0">
                  <a:solidFill>
                    <a:srgbClr val="F7F9FC"/>
                  </a:solidFill>
                  <a:latin typeface="+mn-lt"/>
                  <a:ea typeface="+mn-ea"/>
                  <a:cs typeface="+mn-cs"/>
                </a:rPr>
                <a:t>PV history</a:t>
              </a:r>
            </a:p>
          </p:txBody>
        </p:sp>
        <p:sp>
          <p:nvSpPr>
            <p:cNvPr id="12" name="Line 12"/>
            <p:cNvSpPr/>
            <p:nvPr/>
          </p:nvSpPr>
          <p:spPr>
            <a:xfrm>
              <a:off x="9382125" y="1714500"/>
              <a:ext cx="1" cy="457200"/>
            </a:xfrm>
            <a:prstGeom prst="line">
              <a:avLst/>
            </a:prstGeom>
            <a:noFill/>
            <a:ln w="23812">
              <a:solidFill>
                <a:schemeClr val="accent5"/>
              </a:solidFill>
              <a:tailEnd type="triangle" w="lg" len="lg"/>
            </a:ln>
          </p:spPr>
        </p:sp>
        <p:sp>
          <p:nvSpPr>
            <p:cNvPr id="13" name="Freeform 13"/>
            <p:cNvSpPr/>
            <p:nvPr/>
          </p:nvSpPr>
          <p:spPr>
            <a:xfrm>
              <a:off x="8124825" y="2447925"/>
              <a:ext cx="2486025" cy="1095375"/>
            </a:xfrm>
            <a:custGeom>
              <a:avLst/>
              <a:gdLst/>
              <a:ahLst/>
              <a:cxnLst/>
              <a:rect l="l" t="t" r="r" b="b"/>
              <a:pathLst>
                <a:path w="2486025" h="1095375">
                  <a:moveTo>
                    <a:pt x="19050" y="28575"/>
                  </a:moveTo>
                  <a:lnTo>
                    <a:pt x="2447925" y="0"/>
                  </a:lnTo>
                  <a:lnTo>
                    <a:pt x="2486025" y="1066800"/>
                  </a:lnTo>
                  <a:lnTo>
                    <a:pt x="0" y="1095375"/>
                  </a:lnTo>
                  <a:close/>
                </a:path>
              </a:pathLst>
            </a:custGeom>
            <a:noFill/>
            <a:ln w="23812">
              <a:solidFill>
                <a:schemeClr val="accent5"/>
              </a:solidFill>
            </a:ln>
          </p:spPr>
        </p:sp>
        <p:sp>
          <p:nvSpPr>
            <p:cNvPr id="14" name="TextBox 14"/>
            <p:cNvSpPr txBox="1"/>
            <p:nvPr/>
          </p:nvSpPr>
          <p:spPr>
            <a:xfrm>
              <a:off x="8780700" y="2649855"/>
              <a:ext cx="1202850" cy="410718"/>
            </a:xfrm>
            <a:prstGeom prst="rect">
              <a:avLst/>
            </a:prstGeom>
            <a:noFill/>
            <a:ln>
              <a:noFill/>
            </a:ln>
          </p:spPr>
          <p:txBody>
            <a:bodyPr wrap="none" lIns="0" tIns="0" rIns="0" bIns="0" anchor="t" anchorCtr="0">
              <a:spAutoFit/>
            </a:bodyPr>
            <a:lstStyle/>
            <a:p>
              <a:pPr algn="ctr"/>
              <a:r>
                <a:rPr lang="en-US" sz="2100" dirty="0">
                  <a:solidFill>
                    <a:schemeClr val="accent5"/>
                  </a:solidFill>
                  <a:latin typeface="+mn-lt"/>
                  <a:ea typeface="+mn-ea"/>
                  <a:cs typeface="+mn-cs"/>
                </a:rPr>
                <a:t>Photonic</a:t>
              </a:r>
            </a:p>
          </p:txBody>
        </p:sp>
        <p:sp>
          <p:nvSpPr>
            <p:cNvPr id="15" name="TextBox 15"/>
            <p:cNvSpPr txBox="1"/>
            <p:nvPr/>
          </p:nvSpPr>
          <p:spPr>
            <a:xfrm>
              <a:off x="8749513" y="3040380"/>
              <a:ext cx="1265225" cy="410718"/>
            </a:xfrm>
            <a:prstGeom prst="rect">
              <a:avLst/>
            </a:prstGeom>
            <a:noFill/>
            <a:ln>
              <a:noFill/>
            </a:ln>
          </p:spPr>
          <p:txBody>
            <a:bodyPr wrap="none" lIns="0" tIns="0" rIns="0" bIns="0" anchor="t" anchorCtr="0">
              <a:spAutoFit/>
            </a:bodyPr>
            <a:lstStyle/>
            <a:p>
              <a:pPr algn="ctr"/>
              <a:r>
                <a:rPr lang="en-US" sz="2100" dirty="0">
                  <a:solidFill>
                    <a:schemeClr val="accent5"/>
                  </a:solidFill>
                  <a:latin typeface="+mn-lt"/>
                  <a:ea typeface="+mn-ea"/>
                  <a:cs typeface="+mn-cs"/>
                </a:rPr>
                <a:t>features</a:t>
              </a:r>
            </a:p>
          </p:txBody>
        </p:sp>
        <p:sp>
          <p:nvSpPr>
            <p:cNvPr id="16" name="Line 16"/>
            <p:cNvSpPr/>
            <p:nvPr/>
          </p:nvSpPr>
          <p:spPr>
            <a:xfrm>
              <a:off x="9382125" y="3752850"/>
              <a:ext cx="1" cy="466725"/>
            </a:xfrm>
            <a:prstGeom prst="line">
              <a:avLst/>
            </a:prstGeom>
            <a:noFill/>
            <a:ln w="23812">
              <a:solidFill>
                <a:schemeClr val="accent5"/>
              </a:solidFill>
              <a:tailEnd type="triangle" w="lg" len="lg"/>
            </a:ln>
          </p:spPr>
        </p:sp>
        <p:sp>
          <p:nvSpPr>
            <p:cNvPr id="17" name="TextBox 17"/>
            <p:cNvSpPr txBox="1"/>
            <p:nvPr/>
          </p:nvSpPr>
          <p:spPr>
            <a:xfrm>
              <a:off x="8045425" y="4469130"/>
              <a:ext cx="2673401" cy="410718"/>
            </a:xfrm>
            <a:prstGeom prst="rect">
              <a:avLst/>
            </a:prstGeom>
            <a:noFill/>
            <a:ln>
              <a:noFill/>
            </a:ln>
          </p:spPr>
          <p:txBody>
            <a:bodyPr wrap="none" lIns="0" tIns="0" rIns="0" bIns="0" anchor="t" anchorCtr="0">
              <a:spAutoFit/>
            </a:bodyPr>
            <a:lstStyle/>
            <a:p>
              <a:pPr algn="ctr"/>
              <a:r>
                <a:rPr lang="en-US" sz="2100" dirty="0">
                  <a:solidFill>
                    <a:srgbClr val="F7F9FC"/>
                  </a:solidFill>
                  <a:latin typeface="+mn-lt"/>
                  <a:ea typeface="+mn-ea"/>
                  <a:cs typeface="+mn-cs"/>
                </a:rPr>
                <a:t>Quantile forecasts</a:t>
              </a:r>
            </a:p>
          </p:txBody>
        </p:sp>
        <p:sp>
          <p:nvSpPr>
            <p:cNvPr id="18" name="TextBox 18"/>
            <p:cNvSpPr txBox="1"/>
            <p:nvPr/>
          </p:nvSpPr>
          <p:spPr>
            <a:xfrm>
              <a:off x="8059445" y="4917758"/>
              <a:ext cx="2645359" cy="322707"/>
            </a:xfrm>
            <a:prstGeom prst="rect">
              <a:avLst/>
            </a:prstGeom>
            <a:noFill/>
            <a:ln>
              <a:noFill/>
            </a:ln>
          </p:spPr>
          <p:txBody>
            <a:bodyPr wrap="none" lIns="0" tIns="0" rIns="0" bIns="0" anchor="t" anchorCtr="0">
              <a:spAutoFit/>
            </a:bodyPr>
            <a:lstStyle/>
            <a:p>
              <a:pPr algn="ctr"/>
              <a:r>
                <a:rPr lang="en-US" sz="1650" dirty="0">
                  <a:solidFill>
                    <a:schemeClr val="accent6"/>
                  </a:solidFill>
                  <a:latin typeface="+mn-lt"/>
                  <a:ea typeface="+mn-ea"/>
                  <a:cs typeface="+mn-cs"/>
                </a:rPr>
                <a:t>EXACT SIMULATOR STUDY</a:t>
              </a:r>
            </a:p>
          </p:txBody>
        </p:sp>
      </p:grpSp>
      <p:grpSp>
        <p:nvGrpSpPr>
          <p:cNvPr id="22" name="Group 22"/>
          <p:cNvGrpSpPr/>
          <p:nvPr/>
        </p:nvGrpSpPr>
        <p:grpSpPr>
          <a:xfrm>
            <a:off x="755904" y="6147435"/>
            <a:ext cx="10632567" cy="234696"/>
            <a:chOff x="755904" y="6147435"/>
            <a:chExt cx="10632567" cy="234696"/>
          </a:xfrm>
        </p:grpSpPr>
        <p:sp>
          <p:nvSpPr>
            <p:cNvPr id="20" name="TextBox 20"/>
            <p:cNvSpPr txBox="1"/>
            <p:nvPr/>
          </p:nvSpPr>
          <p:spPr>
            <a:xfrm>
              <a:off x="755904" y="6147435"/>
              <a:ext cx="8311896"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20 OCT 2026 · Latest execution evidence: 16 Oct · Full benchmark pending · No hardware advantage claim</a:t>
              </a:r>
            </a:p>
          </p:txBody>
        </p:sp>
        <p:sp>
          <p:nvSpPr>
            <p:cNvPr id="21" name="TextBox 21"/>
            <p:cNvSpPr txBox="1"/>
            <p:nvPr/>
          </p:nvSpPr>
          <p:spPr>
            <a:xfrm>
              <a:off x="10835107" y="614743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01 /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7396832" cy="1087755"/>
            <a:chOff x="742950" y="717232"/>
            <a:chExt cx="7396832" cy="1087755"/>
          </a:xfrm>
        </p:grpSpPr>
        <p:sp>
          <p:nvSpPr>
            <p:cNvPr id="3" name="TextBox 3"/>
            <p:cNvSpPr txBox="1"/>
            <p:nvPr/>
          </p:nvSpPr>
          <p:spPr>
            <a:xfrm>
              <a:off x="753618" y="717232"/>
              <a:ext cx="2868320"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01 / THE RESEARCH CHOICE</a:t>
              </a:r>
            </a:p>
          </p:txBody>
        </p:sp>
        <p:sp>
          <p:nvSpPr>
            <p:cNvPr id="4" name="TextBox 4"/>
            <p:cNvSpPr txBox="1"/>
            <p:nvPr/>
          </p:nvSpPr>
          <p:spPr>
            <a:xfrm>
              <a:off x="742950" y="1071562"/>
              <a:ext cx="7396832"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Start with a useful question</a:t>
              </a:r>
            </a:p>
          </p:txBody>
        </p:sp>
      </p:grpSp>
      <p:grpSp>
        <p:nvGrpSpPr>
          <p:cNvPr id="12" name="Group 12"/>
          <p:cNvGrpSpPr/>
          <p:nvPr/>
        </p:nvGrpSpPr>
        <p:grpSpPr>
          <a:xfrm>
            <a:off x="795147" y="2064068"/>
            <a:ext cx="5645692" cy="3292030"/>
            <a:chOff x="795147" y="2064068"/>
            <a:chExt cx="5645692" cy="3292030"/>
          </a:xfrm>
        </p:grpSpPr>
        <p:sp>
          <p:nvSpPr>
            <p:cNvPr id="6" name="TextBox 6"/>
            <p:cNvSpPr txBox="1"/>
            <p:nvPr/>
          </p:nvSpPr>
          <p:spPr>
            <a:xfrm>
              <a:off x="795147" y="2064068"/>
              <a:ext cx="3780854" cy="557403"/>
            </a:xfrm>
            <a:prstGeom prst="rect">
              <a:avLst/>
            </a:prstGeom>
            <a:noFill/>
            <a:ln>
              <a:noFill/>
            </a:ln>
          </p:spPr>
          <p:txBody>
            <a:bodyPr wrap="none" lIns="0" tIns="0" rIns="0" bIns="0" anchor="t" anchorCtr="0">
              <a:spAutoFit/>
            </a:bodyPr>
            <a:lstStyle/>
            <a:p>
              <a:pPr algn="l"/>
              <a:r>
                <a:rPr lang="en-US" sz="2850" dirty="0">
                  <a:solidFill>
                    <a:srgbClr val="F7F9FC"/>
                  </a:solidFill>
                  <a:latin typeface="+mn-lt"/>
                  <a:ea typeface="+mn-ea"/>
                  <a:cs typeface="+mn-cs"/>
                </a:rPr>
                <a:t>Industrial relevance</a:t>
              </a:r>
            </a:p>
          </p:txBody>
        </p:sp>
        <p:sp>
          <p:nvSpPr>
            <p:cNvPr id="7" name="TextBox 7"/>
            <p:cNvSpPr txBox="1"/>
            <p:nvPr/>
          </p:nvSpPr>
          <p:spPr>
            <a:xfrm>
              <a:off x="798957" y="2545080"/>
              <a:ext cx="5030505" cy="410718"/>
            </a:xfrm>
            <a:prstGeom prst="rect">
              <a:avLst/>
            </a:prstGeom>
            <a:noFill/>
            <a:ln>
              <a:noFill/>
            </a:ln>
          </p:spPr>
          <p:txBody>
            <a:bodyPr wrap="none" lIns="0" tIns="0" rIns="0" bIns="0" anchor="t" anchorCtr="0">
              <a:spAutoFit/>
            </a:bodyPr>
            <a:lstStyle/>
            <a:p>
              <a:pPr algn="l"/>
              <a:r>
                <a:rPr lang="en-US" sz="2100" dirty="0">
                  <a:solidFill>
                    <a:srgbClr val="E7EDF4"/>
                  </a:solidFill>
                  <a:latin typeface="+mn-lt"/>
                  <a:ea typeface="+mn-ea"/>
                  <a:cs typeface="+mn-cs"/>
                </a:rPr>
                <a:t>Measurable target. Traceable data.</a:t>
              </a:r>
            </a:p>
          </p:txBody>
        </p:sp>
        <p:sp>
          <p:nvSpPr>
            <p:cNvPr id="8" name="TextBox 8"/>
            <p:cNvSpPr txBox="1"/>
            <p:nvPr/>
          </p:nvSpPr>
          <p:spPr>
            <a:xfrm>
              <a:off x="795147" y="3264218"/>
              <a:ext cx="2936573" cy="557403"/>
            </a:xfrm>
            <a:prstGeom prst="rect">
              <a:avLst/>
            </a:prstGeom>
            <a:noFill/>
            <a:ln>
              <a:noFill/>
            </a:ln>
          </p:spPr>
          <p:txBody>
            <a:bodyPr wrap="none" lIns="0" tIns="0" rIns="0" bIns="0" anchor="t" anchorCtr="0">
              <a:spAutoFit/>
            </a:bodyPr>
            <a:lstStyle/>
            <a:p>
              <a:pPr algn="l"/>
              <a:r>
                <a:rPr lang="en-US" sz="2850" dirty="0">
                  <a:solidFill>
                    <a:srgbClr val="F7F9FC"/>
                  </a:solidFill>
                  <a:latin typeface="+mn-lt"/>
                  <a:ea typeface="+mn-ea"/>
                  <a:cs typeface="+mn-cs"/>
                </a:rPr>
                <a:t>Scientific value</a:t>
              </a:r>
            </a:p>
          </p:txBody>
        </p:sp>
        <p:sp>
          <p:nvSpPr>
            <p:cNvPr id="9" name="TextBox 9"/>
            <p:cNvSpPr txBox="1"/>
            <p:nvPr/>
          </p:nvSpPr>
          <p:spPr>
            <a:xfrm>
              <a:off x="798957" y="3745230"/>
              <a:ext cx="5599837" cy="410718"/>
            </a:xfrm>
            <a:prstGeom prst="rect">
              <a:avLst/>
            </a:prstGeom>
            <a:noFill/>
            <a:ln>
              <a:noFill/>
            </a:ln>
          </p:spPr>
          <p:txBody>
            <a:bodyPr wrap="none" lIns="0" tIns="0" rIns="0" bIns="0" anchor="t" anchorCtr="0">
              <a:spAutoFit/>
            </a:bodyPr>
            <a:lstStyle/>
            <a:p>
              <a:pPr algn="l"/>
              <a:r>
                <a:rPr lang="en-US" sz="2100" dirty="0">
                  <a:solidFill>
                    <a:srgbClr val="E7EDF4"/>
                  </a:solidFill>
                  <a:latin typeface="+mn-lt"/>
                  <a:ea typeface="+mn-ea"/>
                  <a:cs typeface="+mn-cs"/>
                </a:rPr>
                <a:t>A falsifiable role for quantum features.</a:t>
              </a:r>
            </a:p>
          </p:txBody>
        </p:sp>
        <p:sp>
          <p:nvSpPr>
            <p:cNvPr id="10" name="TextBox 10"/>
            <p:cNvSpPr txBox="1"/>
            <p:nvPr/>
          </p:nvSpPr>
          <p:spPr>
            <a:xfrm>
              <a:off x="795147" y="4464368"/>
              <a:ext cx="1976444" cy="557403"/>
            </a:xfrm>
            <a:prstGeom prst="rect">
              <a:avLst/>
            </a:prstGeom>
            <a:noFill/>
            <a:ln>
              <a:noFill/>
            </a:ln>
          </p:spPr>
          <p:txBody>
            <a:bodyPr wrap="none" lIns="0" tIns="0" rIns="0" bIns="0" anchor="t" anchorCtr="0">
              <a:spAutoFit/>
            </a:bodyPr>
            <a:lstStyle/>
            <a:p>
              <a:pPr algn="l"/>
              <a:r>
                <a:rPr lang="en-US" sz="2850" dirty="0">
                  <a:solidFill>
                    <a:srgbClr val="F7F9FC"/>
                  </a:solidFill>
                  <a:latin typeface="+mn-lt"/>
                  <a:ea typeface="+mn-ea"/>
                  <a:cs typeface="+mn-cs"/>
                </a:rPr>
                <a:t>Feasibility</a:t>
              </a:r>
            </a:p>
          </p:txBody>
        </p:sp>
        <p:sp>
          <p:nvSpPr>
            <p:cNvPr id="11" name="TextBox 11"/>
            <p:cNvSpPr txBox="1"/>
            <p:nvPr/>
          </p:nvSpPr>
          <p:spPr>
            <a:xfrm>
              <a:off x="798957" y="4945380"/>
              <a:ext cx="5641882" cy="410718"/>
            </a:xfrm>
            <a:prstGeom prst="rect">
              <a:avLst/>
            </a:prstGeom>
            <a:noFill/>
            <a:ln>
              <a:noFill/>
            </a:ln>
          </p:spPr>
          <p:txBody>
            <a:bodyPr wrap="none" lIns="0" tIns="0" rIns="0" bIns="0" anchor="t" anchorCtr="0">
              <a:spAutoFit/>
            </a:bodyPr>
            <a:lstStyle/>
            <a:p>
              <a:pPr algn="l"/>
              <a:r>
                <a:rPr lang="en-US" sz="2100" dirty="0">
                  <a:solidFill>
                    <a:srgbClr val="E7EDF4"/>
                  </a:solidFill>
                  <a:latin typeface="+mn-lt"/>
                  <a:ea typeface="+mn-ea"/>
                  <a:cs typeface="+mn-cs"/>
                </a:rPr>
                <a:t>Small simulation before QPU investment.</a:t>
              </a:r>
            </a:p>
          </p:txBody>
        </p:sp>
      </p:grpSp>
      <p:grpSp>
        <p:nvGrpSpPr>
          <p:cNvPr id="16" name="Group 16"/>
          <p:cNvGrpSpPr/>
          <p:nvPr/>
        </p:nvGrpSpPr>
        <p:grpSpPr>
          <a:xfrm>
            <a:off x="7371207" y="2049780"/>
            <a:ext cx="4011168" cy="3513201"/>
            <a:chOff x="7371207" y="2049780"/>
            <a:chExt cx="4011168" cy="3513201"/>
          </a:xfrm>
        </p:grpSpPr>
        <p:sp>
          <p:nvSpPr>
            <p:cNvPr id="13" name="TextBox 13"/>
            <p:cNvSpPr txBox="1"/>
            <p:nvPr/>
          </p:nvSpPr>
          <p:spPr>
            <a:xfrm>
              <a:off x="7371207" y="2049780"/>
              <a:ext cx="2786858"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A physical test case</a:t>
              </a:r>
            </a:p>
          </p:txBody>
        </p:sp>
        <p:pic>
          <p:nvPicPr>
            <p:cNvPr id="14" name="Image 14"/>
            <p:cNvPicPr>
              <a:picLocks noChangeAspect="1"/>
            </p:cNvPicPr>
            <p:nvPr/>
          </p:nvPicPr>
          <p:blipFill>
            <a:blip r:embed="rId2"/>
            <a:stretch>
              <a:fillRect/>
            </a:stretch>
          </p:blipFill>
          <p:spPr>
            <a:xfrm>
              <a:off x="7381875" y="2524125"/>
              <a:ext cx="4000500" cy="2667000"/>
            </a:xfrm>
            <a:prstGeom prst="rect">
              <a:avLst/>
            </a:prstGeom>
          </p:spPr>
        </p:pic>
        <p:sp>
          <p:nvSpPr>
            <p:cNvPr id="15" name="TextBox 15"/>
            <p:cNvSpPr txBox="1"/>
            <p:nvPr/>
          </p:nvSpPr>
          <p:spPr>
            <a:xfrm>
              <a:off x="7375779" y="5328285"/>
              <a:ext cx="3347633"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Photo: NIST · Roof Tilted Array · nist.gov</a:t>
              </a:r>
            </a:p>
          </p:txBody>
        </p:sp>
      </p:grpSp>
      <p:grpSp>
        <p:nvGrpSpPr>
          <p:cNvPr id="18" name="Group 18"/>
          <p:cNvGrpSpPr/>
          <p:nvPr/>
        </p:nvGrpSpPr>
        <p:grpSpPr>
          <a:xfrm>
            <a:off x="801243" y="5641658"/>
            <a:ext cx="9353583" cy="322707"/>
            <a:chOff x="801243" y="5641658"/>
            <a:chExt cx="9353583" cy="322707"/>
          </a:xfrm>
        </p:grpSpPr>
        <p:sp>
          <p:nvSpPr>
            <p:cNvPr id="17" name="TextBox 17"/>
            <p:cNvSpPr txBox="1"/>
            <p:nvPr/>
          </p:nvSpPr>
          <p:spPr>
            <a:xfrm>
              <a:off x="801243" y="5641658"/>
              <a:ext cx="9353583"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Candidates surveyed: finance · equipment sensing · molecules/materials · time series</a:t>
              </a:r>
            </a:p>
          </p:txBody>
        </p:sp>
      </p:grpSp>
      <p:grpSp>
        <p:nvGrpSpPr>
          <p:cNvPr id="21" name="Group 21"/>
          <p:cNvGrpSpPr/>
          <p:nvPr/>
        </p:nvGrpSpPr>
        <p:grpSpPr>
          <a:xfrm>
            <a:off x="755904" y="6147435"/>
            <a:ext cx="10632567" cy="234696"/>
            <a:chOff x="755904" y="6147435"/>
            <a:chExt cx="10632567" cy="234696"/>
          </a:xfrm>
        </p:grpSpPr>
        <p:sp>
          <p:nvSpPr>
            <p:cNvPr id="19" name="TextBox 19"/>
            <p:cNvSpPr txBox="1"/>
            <p:nvPr/>
          </p:nvSpPr>
          <p:spPr>
            <a:xfrm>
              <a:off x="755904" y="6147435"/>
              <a:ext cx="5888238"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Source: industry-first QML review, 26 Sep 2026 · No QPU access assumed</a:t>
              </a:r>
            </a:p>
          </p:txBody>
        </p:sp>
        <p:sp>
          <p:nvSpPr>
            <p:cNvPr id="20" name="TextBox 20"/>
            <p:cNvSpPr txBox="1"/>
            <p:nvPr/>
          </p:nvSpPr>
          <p:spPr>
            <a:xfrm>
              <a:off x="10835107" y="614743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7821153" cy="1087755"/>
            <a:chOff x="742950" y="717232"/>
            <a:chExt cx="7821153" cy="1087755"/>
          </a:xfrm>
        </p:grpSpPr>
        <p:sp>
          <p:nvSpPr>
            <p:cNvPr id="3" name="TextBox 3"/>
            <p:cNvSpPr txBox="1"/>
            <p:nvPr/>
          </p:nvSpPr>
          <p:spPr>
            <a:xfrm>
              <a:off x="753618" y="717232"/>
              <a:ext cx="245760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02 / WHAT WE LEARNED</a:t>
              </a:r>
            </a:p>
          </p:txBody>
        </p:sp>
        <p:sp>
          <p:nvSpPr>
            <p:cNvPr id="4" name="TextBox 4"/>
            <p:cNvSpPr txBox="1"/>
            <p:nvPr/>
          </p:nvSpPr>
          <p:spPr>
            <a:xfrm>
              <a:off x="742950" y="1071562"/>
              <a:ext cx="7821153"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Prior work changed the design</a:t>
              </a:r>
            </a:p>
          </p:txBody>
        </p:sp>
      </p:grpSp>
      <p:grpSp>
        <p:nvGrpSpPr>
          <p:cNvPr id="10" name="Group 10"/>
          <p:cNvGrpSpPr/>
          <p:nvPr/>
        </p:nvGrpSpPr>
        <p:grpSpPr>
          <a:xfrm>
            <a:off x="798957" y="2068830"/>
            <a:ext cx="10014966" cy="782193"/>
            <a:chOff x="798957" y="2068830"/>
            <a:chExt cx="10014966" cy="782193"/>
          </a:xfrm>
        </p:grpSpPr>
        <p:sp>
          <p:nvSpPr>
            <p:cNvPr id="6" name="TextBox 6"/>
            <p:cNvSpPr txBox="1"/>
            <p:nvPr/>
          </p:nvSpPr>
          <p:spPr>
            <a:xfrm>
              <a:off x="798957" y="2087880"/>
              <a:ext cx="2687269" cy="410718"/>
            </a:xfrm>
            <a:prstGeom prst="rect">
              <a:avLst/>
            </a:prstGeom>
            <a:noFill/>
            <a:ln>
              <a:noFill/>
            </a:ln>
          </p:spPr>
          <p:txBody>
            <a:bodyPr wrap="none" lIns="0" tIns="0" rIns="0" bIns="0" anchor="t" anchorCtr="0">
              <a:spAutoFit/>
            </a:bodyPr>
            <a:lstStyle/>
            <a:p>
              <a:pPr algn="l"/>
              <a:r>
                <a:rPr lang="en-US" sz="2100" b="1" dirty="0">
                  <a:solidFill>
                    <a:schemeClr val="accent5"/>
                  </a:solidFill>
                  <a:latin typeface="+mn-lt"/>
                  <a:ea typeface="+mn-ea"/>
                  <a:cs typeface="+mn-cs"/>
                </a:rPr>
                <a:t>BENCHMARK FAIRLY</a:t>
              </a:r>
            </a:p>
          </p:txBody>
        </p:sp>
        <p:sp>
          <p:nvSpPr>
            <p:cNvPr id="7" name="TextBox 7"/>
            <p:cNvSpPr txBox="1"/>
            <p:nvPr/>
          </p:nvSpPr>
          <p:spPr>
            <a:xfrm>
              <a:off x="801243" y="2507932"/>
              <a:ext cx="2239398"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Bowles et al. (2024)</a:t>
              </a:r>
            </a:p>
          </p:txBody>
        </p:sp>
        <p:sp>
          <p:nvSpPr>
            <p:cNvPr id="8" name="Line 8"/>
            <p:cNvSpPr/>
            <p:nvPr/>
          </p:nvSpPr>
          <p:spPr>
            <a:xfrm>
              <a:off x="5381625" y="2381250"/>
              <a:ext cx="952500" cy="1"/>
            </a:xfrm>
            <a:prstGeom prst="line">
              <a:avLst/>
            </a:prstGeom>
            <a:noFill/>
            <a:ln w="23812">
              <a:solidFill>
                <a:schemeClr val="accent5"/>
              </a:solidFill>
              <a:tailEnd type="triangle" w="lg" len="lg"/>
            </a:ln>
          </p:spPr>
        </p:sp>
        <p:sp>
          <p:nvSpPr>
            <p:cNvPr id="9" name="TextBox 9"/>
            <p:cNvSpPr txBox="1"/>
            <p:nvPr/>
          </p:nvSpPr>
          <p:spPr>
            <a:xfrm>
              <a:off x="6752082" y="2068830"/>
              <a:ext cx="4061841" cy="782193"/>
            </a:xfrm>
            <a:prstGeom prst="rect">
              <a:avLst/>
            </a:prstGeom>
            <a:noFill/>
            <a:ln>
              <a:noFill/>
            </a:ln>
          </p:spPr>
          <p:txBody>
            <a:bodyPr wrap="none" lIns="0" tIns="0" rIns="0" bIns="0" anchor="t" anchorCtr="0">
              <a:spAutoFit/>
            </a:bodyPr>
            <a:lstStyle/>
            <a:p>
              <a:pPr algn="l">
                <a:lnSpc>
                  <a:spcPts val="2925"/>
                </a:lnSpc>
              </a:pPr>
              <a:r>
                <a:rPr lang="en-US" sz="2100" dirty="0">
                  <a:solidFill>
                    <a:srgbClr val="F7F9FC"/>
                  </a:solidFill>
                  <a:latin typeface="+mn-lt"/>
                  <a:ea typeface="+mn-ea"/>
                  <a:cs typeface="+mn-cs"/>
                </a:rPr>
                <a:t>Use strong classical baselines</a:t>
              </a:r>
              <a:br/>
              <a:r>
                <a:rPr lang="en-US" sz="2100" dirty="0">
                  <a:solidFill>
                    <a:srgbClr val="F7F9FC"/>
                  </a:solidFill>
                  <a:latin typeface="+mn-lt"/>
                  <a:ea typeface="+mn-ea"/>
                  <a:cs typeface="+mn-cs"/>
                </a:rPr>
                <a:t>and matched feature controls.</a:t>
              </a:r>
            </a:p>
          </p:txBody>
        </p:sp>
      </p:grpSp>
      <p:grpSp>
        <p:nvGrpSpPr>
          <p:cNvPr id="15" name="Group 15"/>
          <p:cNvGrpSpPr/>
          <p:nvPr/>
        </p:nvGrpSpPr>
        <p:grpSpPr>
          <a:xfrm>
            <a:off x="798957" y="3335655"/>
            <a:ext cx="9881616" cy="782193"/>
            <a:chOff x="798957" y="3335655"/>
            <a:chExt cx="9881616" cy="782193"/>
          </a:xfrm>
        </p:grpSpPr>
        <p:sp>
          <p:nvSpPr>
            <p:cNvPr id="11" name="TextBox 11"/>
            <p:cNvSpPr txBox="1"/>
            <p:nvPr/>
          </p:nvSpPr>
          <p:spPr>
            <a:xfrm>
              <a:off x="798957" y="3354705"/>
              <a:ext cx="3518413" cy="410718"/>
            </a:xfrm>
            <a:prstGeom prst="rect">
              <a:avLst/>
            </a:prstGeom>
            <a:noFill/>
            <a:ln>
              <a:noFill/>
            </a:ln>
          </p:spPr>
          <p:txBody>
            <a:bodyPr wrap="none" lIns="0" tIns="0" rIns="0" bIns="0" anchor="t" anchorCtr="0">
              <a:spAutoFit/>
            </a:bodyPr>
            <a:lstStyle/>
            <a:p>
              <a:pPr algn="l"/>
              <a:r>
                <a:rPr lang="en-US" sz="2100" b="1" dirty="0">
                  <a:solidFill>
                    <a:schemeClr val="accent5"/>
                  </a:solidFill>
                  <a:latin typeface="+mn-lt"/>
                  <a:ea typeface="+mn-ea"/>
                  <a:cs typeface="+mn-cs"/>
                </a:rPr>
                <a:t>ISOLATE THE MECHANISM</a:t>
              </a:r>
            </a:p>
          </p:txBody>
        </p:sp>
        <p:sp>
          <p:nvSpPr>
            <p:cNvPr id="12" name="TextBox 12"/>
            <p:cNvSpPr txBox="1"/>
            <p:nvPr/>
          </p:nvSpPr>
          <p:spPr>
            <a:xfrm>
              <a:off x="801243" y="3774758"/>
              <a:ext cx="4559152"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Photonic kernel (2025); Di Bartolo (2026)</a:t>
              </a:r>
            </a:p>
          </p:txBody>
        </p:sp>
        <p:sp>
          <p:nvSpPr>
            <p:cNvPr id="13" name="Line 13"/>
            <p:cNvSpPr/>
            <p:nvPr/>
          </p:nvSpPr>
          <p:spPr>
            <a:xfrm>
              <a:off x="5381625" y="3648075"/>
              <a:ext cx="952500" cy="1"/>
            </a:xfrm>
            <a:prstGeom prst="line">
              <a:avLst/>
            </a:prstGeom>
            <a:noFill/>
            <a:ln w="23812">
              <a:solidFill>
                <a:schemeClr val="accent5"/>
              </a:solidFill>
              <a:tailEnd type="triangle" w="lg" len="lg"/>
            </a:ln>
          </p:spPr>
        </p:sp>
        <p:sp>
          <p:nvSpPr>
            <p:cNvPr id="14" name="TextBox 14"/>
            <p:cNvSpPr txBox="1"/>
            <p:nvPr/>
          </p:nvSpPr>
          <p:spPr>
            <a:xfrm>
              <a:off x="6752082" y="3335655"/>
              <a:ext cx="3928491" cy="782193"/>
            </a:xfrm>
            <a:prstGeom prst="rect">
              <a:avLst/>
            </a:prstGeom>
            <a:noFill/>
            <a:ln>
              <a:noFill/>
            </a:ln>
          </p:spPr>
          <p:txBody>
            <a:bodyPr wrap="none" lIns="0" tIns="0" rIns="0" bIns="0" anchor="t" anchorCtr="0">
              <a:spAutoFit/>
            </a:bodyPr>
            <a:lstStyle/>
            <a:p>
              <a:pPr algn="l">
                <a:lnSpc>
                  <a:spcPts val="2925"/>
                </a:lnSpc>
              </a:pPr>
              <a:r>
                <a:rPr lang="en-US" sz="2100" dirty="0">
                  <a:solidFill>
                    <a:srgbClr val="F7F9FC"/>
                  </a:solidFill>
                  <a:latin typeface="+mn-lt"/>
                  <a:ea typeface="+mn-ea"/>
                  <a:cs typeface="+mn-cs"/>
                </a:rPr>
                <a:t>Separate photon interference</a:t>
              </a:r>
              <a:br/>
              <a:r>
                <a:rPr lang="en-US" sz="2100" dirty="0">
                  <a:solidFill>
                    <a:srgbClr val="F7F9FC"/>
                  </a:solidFill>
                  <a:latin typeface="+mn-lt"/>
                  <a:ea typeface="+mn-ea"/>
                  <a:cs typeface="+mn-cs"/>
                </a:rPr>
                <a:t>from classical memory.</a:t>
              </a:r>
            </a:p>
          </p:txBody>
        </p:sp>
      </p:grpSp>
      <p:grpSp>
        <p:nvGrpSpPr>
          <p:cNvPr id="20" name="Group 20"/>
          <p:cNvGrpSpPr/>
          <p:nvPr/>
        </p:nvGrpSpPr>
        <p:grpSpPr>
          <a:xfrm>
            <a:off x="798957" y="4602480"/>
            <a:ext cx="10281666" cy="782193"/>
            <a:chOff x="798957" y="4602480"/>
            <a:chExt cx="10281666" cy="782193"/>
          </a:xfrm>
        </p:grpSpPr>
        <p:sp>
          <p:nvSpPr>
            <p:cNvPr id="16" name="TextBox 16"/>
            <p:cNvSpPr txBox="1"/>
            <p:nvPr/>
          </p:nvSpPr>
          <p:spPr>
            <a:xfrm>
              <a:off x="798957" y="4621530"/>
              <a:ext cx="4051600" cy="410718"/>
            </a:xfrm>
            <a:prstGeom prst="rect">
              <a:avLst/>
            </a:prstGeom>
            <a:noFill/>
            <a:ln>
              <a:noFill/>
            </a:ln>
          </p:spPr>
          <p:txBody>
            <a:bodyPr wrap="none" lIns="0" tIns="0" rIns="0" bIns="0" anchor="t" anchorCtr="0">
              <a:spAutoFit/>
            </a:bodyPr>
            <a:lstStyle/>
            <a:p>
              <a:pPr algn="l"/>
              <a:r>
                <a:rPr lang="en-US" sz="2100" b="1" dirty="0">
                  <a:solidFill>
                    <a:schemeClr val="accent5"/>
                  </a:solidFill>
                  <a:latin typeface="+mn-lt"/>
                  <a:ea typeface="+mn-ea"/>
                  <a:cs typeface="+mn-cs"/>
                </a:rPr>
                <a:t>COUNT THE REAL RESOURCES</a:t>
              </a:r>
            </a:p>
          </p:txBody>
        </p:sp>
        <p:sp>
          <p:nvSpPr>
            <p:cNvPr id="17" name="TextBox 17"/>
            <p:cNvSpPr txBox="1"/>
            <p:nvPr/>
          </p:nvSpPr>
          <p:spPr>
            <a:xfrm>
              <a:off x="801243" y="5041582"/>
              <a:ext cx="3889052"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Ahmed (2025); Mills–Mezher (2026)</a:t>
              </a:r>
            </a:p>
          </p:txBody>
        </p:sp>
        <p:sp>
          <p:nvSpPr>
            <p:cNvPr id="18" name="Line 18"/>
            <p:cNvSpPr/>
            <p:nvPr/>
          </p:nvSpPr>
          <p:spPr>
            <a:xfrm>
              <a:off x="5381625" y="4914900"/>
              <a:ext cx="952500" cy="1"/>
            </a:xfrm>
            <a:prstGeom prst="line">
              <a:avLst/>
            </a:prstGeom>
            <a:noFill/>
            <a:ln w="23812">
              <a:solidFill>
                <a:schemeClr val="accent5"/>
              </a:solidFill>
              <a:tailEnd type="triangle" w="lg" len="lg"/>
            </a:ln>
          </p:spPr>
        </p:sp>
        <p:sp>
          <p:nvSpPr>
            <p:cNvPr id="19" name="TextBox 19"/>
            <p:cNvSpPr txBox="1"/>
            <p:nvPr/>
          </p:nvSpPr>
          <p:spPr>
            <a:xfrm>
              <a:off x="6752082" y="4602480"/>
              <a:ext cx="4328541" cy="782193"/>
            </a:xfrm>
            <a:prstGeom prst="rect">
              <a:avLst/>
            </a:prstGeom>
            <a:noFill/>
            <a:ln>
              <a:noFill/>
            </a:ln>
          </p:spPr>
          <p:txBody>
            <a:bodyPr wrap="none" lIns="0" tIns="0" rIns="0" bIns="0" anchor="t" anchorCtr="0">
              <a:spAutoFit/>
            </a:bodyPr>
            <a:lstStyle/>
            <a:p>
              <a:pPr algn="l">
                <a:lnSpc>
                  <a:spcPts val="2925"/>
                </a:lnSpc>
              </a:pPr>
              <a:r>
                <a:rPr lang="en-US" sz="2100" dirty="0">
                  <a:solidFill>
                    <a:srgbClr val="F7F9FC"/>
                  </a:solidFill>
                  <a:latin typeface="+mn-lt"/>
                  <a:ea typeface="+mn-ea"/>
                  <a:cs typeface="+mn-cs"/>
                </a:rPr>
                <a:t>Test finite shots and photon loss</a:t>
              </a:r>
              <a:br/>
              <a:r>
                <a:rPr lang="en-US" sz="2100" dirty="0">
                  <a:solidFill>
                    <a:srgbClr val="F7F9FC"/>
                  </a:solidFill>
                  <a:latin typeface="+mn-lt"/>
                  <a:ea typeface="+mn-ea"/>
                  <a:cs typeface="+mn-cs"/>
                </a:rPr>
                <a:t>after exact feasibility.</a:t>
              </a:r>
            </a:p>
          </p:txBody>
        </p:sp>
      </p:grpSp>
      <p:grpSp>
        <p:nvGrpSpPr>
          <p:cNvPr id="22" name="Group 22"/>
          <p:cNvGrpSpPr/>
          <p:nvPr/>
        </p:nvGrpSpPr>
        <p:grpSpPr>
          <a:xfrm>
            <a:off x="801243" y="5632132"/>
            <a:ext cx="9148476" cy="322707"/>
            <a:chOff x="801243" y="5632132"/>
            <a:chExt cx="9148476" cy="322707"/>
          </a:xfrm>
        </p:grpSpPr>
        <p:sp>
          <p:nvSpPr>
            <p:cNvPr id="21" name="TextBox 21"/>
            <p:cNvSpPr txBox="1"/>
            <p:nvPr/>
          </p:nvSpPr>
          <p:spPr>
            <a:xfrm>
              <a:off x="801243" y="5632132"/>
              <a:ext cx="9148476"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QML for PV already exists: Sagingalieva et al. (2025). Novelty still needs evidence.</a:t>
              </a:r>
            </a:p>
          </p:txBody>
        </p:sp>
      </p:grpSp>
      <p:grpSp>
        <p:nvGrpSpPr>
          <p:cNvPr id="25" name="Group 25"/>
          <p:cNvGrpSpPr/>
          <p:nvPr/>
        </p:nvGrpSpPr>
        <p:grpSpPr>
          <a:xfrm>
            <a:off x="755904" y="6147435"/>
            <a:ext cx="10632567" cy="234696"/>
            <a:chOff x="755904" y="6147435"/>
            <a:chExt cx="10632567" cy="234696"/>
          </a:xfrm>
        </p:grpSpPr>
        <p:sp>
          <p:nvSpPr>
            <p:cNvPr id="23" name="TextBox 23"/>
            <p:cNvSpPr txBox="1"/>
            <p:nvPr/>
          </p:nvSpPr>
          <p:spPr>
            <a:xfrm>
              <a:off x="755904" y="6147435"/>
              <a:ext cx="9180228"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Targeted reviews, 26 Sep 2026 · Damping, topology and weak measurement also have prior art · References in notes</a:t>
              </a:r>
            </a:p>
          </p:txBody>
        </p:sp>
        <p:sp>
          <p:nvSpPr>
            <p:cNvPr id="24" name="TextBox 24"/>
            <p:cNvSpPr txBox="1"/>
            <p:nvPr/>
          </p:nvSpPr>
          <p:spPr>
            <a:xfrm>
              <a:off x="10835107" y="614743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7460419" cy="1087755"/>
            <a:chOff x="742950" y="717232"/>
            <a:chExt cx="7460419" cy="1087755"/>
          </a:xfrm>
        </p:grpSpPr>
        <p:sp>
          <p:nvSpPr>
            <p:cNvPr id="3" name="TextBox 3"/>
            <p:cNvSpPr txBox="1"/>
            <p:nvPr/>
          </p:nvSpPr>
          <p:spPr>
            <a:xfrm>
              <a:off x="753618" y="717232"/>
              <a:ext cx="3384652"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03 / THE SELECTED HYPOTHESIS</a:t>
              </a:r>
            </a:p>
          </p:txBody>
        </p:sp>
        <p:sp>
          <p:nvSpPr>
            <p:cNvPr id="4" name="TextBox 4"/>
            <p:cNvSpPr txBox="1"/>
            <p:nvPr/>
          </p:nvSpPr>
          <p:spPr>
            <a:xfrm>
              <a:off x="742950" y="1071562"/>
              <a:ext cx="7460419"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Why PV is a useful first test</a:t>
              </a:r>
            </a:p>
          </p:txBody>
        </p:sp>
      </p:grpSp>
      <p:grpSp>
        <p:nvGrpSpPr>
          <p:cNvPr id="10" name="Group 10"/>
          <p:cNvGrpSpPr/>
          <p:nvPr/>
        </p:nvGrpSpPr>
        <p:grpSpPr>
          <a:xfrm>
            <a:off x="798957" y="2116455"/>
            <a:ext cx="9497050" cy="455295"/>
            <a:chOff x="798957" y="2116455"/>
            <a:chExt cx="9497050" cy="455295"/>
          </a:xfrm>
        </p:grpSpPr>
        <p:sp>
          <p:nvSpPr>
            <p:cNvPr id="6" name="TextBox 6"/>
            <p:cNvSpPr txBox="1"/>
            <p:nvPr/>
          </p:nvSpPr>
          <p:spPr>
            <a:xfrm>
              <a:off x="798957" y="2116455"/>
              <a:ext cx="2913964"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Measured public data</a:t>
              </a:r>
            </a:p>
          </p:txBody>
        </p:sp>
        <p:sp>
          <p:nvSpPr>
            <p:cNvPr id="7" name="TextBox 7"/>
            <p:cNvSpPr txBox="1"/>
            <p:nvPr/>
          </p:nvSpPr>
          <p:spPr>
            <a:xfrm>
              <a:off x="4656582" y="2116455"/>
              <a:ext cx="1754692"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Clear target</a:t>
              </a:r>
            </a:p>
          </p:txBody>
        </p:sp>
        <p:sp>
          <p:nvSpPr>
            <p:cNvPr id="8" name="TextBox 8"/>
            <p:cNvSpPr txBox="1"/>
            <p:nvPr/>
          </p:nvSpPr>
          <p:spPr>
            <a:xfrm>
              <a:off x="7990332" y="2116455"/>
              <a:ext cx="2305675"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Strong baselines</a:t>
              </a:r>
            </a:p>
          </p:txBody>
        </p:sp>
        <p:sp>
          <p:nvSpPr>
            <p:cNvPr id="9" name="Freeform 9"/>
            <p:cNvSpPr/>
            <p:nvPr/>
          </p:nvSpPr>
          <p:spPr>
            <a:xfrm>
              <a:off x="838200" y="2524125"/>
              <a:ext cx="9229725" cy="47625"/>
            </a:xfrm>
            <a:custGeom>
              <a:avLst/>
              <a:gdLst/>
              <a:ahLst/>
              <a:cxnLst/>
              <a:rect l="l" t="t" r="r" b="b"/>
              <a:pathLst>
                <a:path w="9229725" h="47625">
                  <a:moveTo>
                    <a:pt x="0" y="9525"/>
                  </a:moveTo>
                  <a:lnTo>
                    <a:pt x="2095500" y="38100"/>
                  </a:lnTo>
                  <a:lnTo>
                    <a:pt x="2876550" y="9525"/>
                  </a:lnTo>
                  <a:moveTo>
                    <a:pt x="3848100" y="28575"/>
                  </a:moveTo>
                  <a:lnTo>
                    <a:pt x="5334000" y="0"/>
                  </a:lnTo>
                  <a:moveTo>
                    <a:pt x="7162800" y="9525"/>
                  </a:moveTo>
                  <a:lnTo>
                    <a:pt x="9229725" y="47625"/>
                  </a:lnTo>
                </a:path>
              </a:pathLst>
            </a:custGeom>
            <a:noFill/>
            <a:ln w="19050">
              <a:solidFill>
                <a:schemeClr val="accent5"/>
              </a:solidFill>
            </a:ln>
          </p:spPr>
        </p:sp>
      </p:grpSp>
      <p:grpSp>
        <p:nvGrpSpPr>
          <p:cNvPr id="15" name="Group 15"/>
          <p:cNvGrpSpPr/>
          <p:nvPr/>
        </p:nvGrpSpPr>
        <p:grpSpPr>
          <a:xfrm>
            <a:off x="2238375" y="3016568"/>
            <a:ext cx="8048625" cy="1643253"/>
            <a:chOff x="2238375" y="3016568"/>
            <a:chExt cx="8048625" cy="1643253"/>
          </a:xfrm>
        </p:grpSpPr>
        <p:sp>
          <p:nvSpPr>
            <p:cNvPr id="11" name="TextBox 11"/>
            <p:cNvSpPr txBox="1"/>
            <p:nvPr/>
          </p:nvSpPr>
          <p:spPr>
            <a:xfrm>
              <a:off x="2439561" y="3016568"/>
              <a:ext cx="7312877" cy="557403"/>
            </a:xfrm>
            <a:prstGeom prst="rect">
              <a:avLst/>
            </a:prstGeom>
            <a:noFill/>
            <a:ln>
              <a:noFill/>
            </a:ln>
          </p:spPr>
          <p:txBody>
            <a:bodyPr wrap="none" lIns="0" tIns="0" rIns="0" bIns="0" anchor="t" anchorCtr="0">
              <a:spAutoFit/>
            </a:bodyPr>
            <a:lstStyle/>
            <a:p>
              <a:pPr algn="ctr"/>
              <a:r>
                <a:rPr lang="en-US" sz="2850" b="1" dirty="0">
                  <a:solidFill>
                    <a:srgbClr val="F7F9FC"/>
                  </a:solidFill>
                  <a:latin typeface="+mn-lt"/>
                  <a:ea typeface="+mn-ea"/>
                  <a:cs typeface="+mn-cs"/>
                </a:rPr>
                <a:t>Do indistinguishable-photon features</a:t>
              </a:r>
            </a:p>
          </p:txBody>
        </p:sp>
        <p:sp>
          <p:nvSpPr>
            <p:cNvPr id="12" name="TextBox 12"/>
            <p:cNvSpPr txBox="1"/>
            <p:nvPr/>
          </p:nvSpPr>
          <p:spPr>
            <a:xfrm>
              <a:off x="2627080" y="3559492"/>
              <a:ext cx="6937840" cy="557403"/>
            </a:xfrm>
            <a:prstGeom prst="rect">
              <a:avLst/>
            </a:prstGeom>
            <a:noFill/>
            <a:ln>
              <a:noFill/>
            </a:ln>
          </p:spPr>
          <p:txBody>
            <a:bodyPr wrap="none" lIns="0" tIns="0" rIns="0" bIns="0" anchor="t" anchorCtr="0">
              <a:spAutoFit/>
            </a:bodyPr>
            <a:lstStyle/>
            <a:p>
              <a:pPr algn="ctr"/>
              <a:r>
                <a:rPr lang="en-US" sz="2850" b="1" dirty="0">
                  <a:solidFill>
                    <a:srgbClr val="F7F9FC"/>
                  </a:solidFill>
                  <a:latin typeface="+mn-lt"/>
                  <a:ea typeface="+mn-ea"/>
                  <a:cs typeface="+mn-cs"/>
                </a:rPr>
                <a:t>improve forecasts beyond classical</a:t>
              </a:r>
            </a:p>
          </p:txBody>
        </p:sp>
        <p:sp>
          <p:nvSpPr>
            <p:cNvPr id="13" name="TextBox 13"/>
            <p:cNvSpPr txBox="1"/>
            <p:nvPr/>
          </p:nvSpPr>
          <p:spPr>
            <a:xfrm>
              <a:off x="2445798" y="4102418"/>
              <a:ext cx="7300405" cy="557403"/>
            </a:xfrm>
            <a:prstGeom prst="rect">
              <a:avLst/>
            </a:prstGeom>
            <a:noFill/>
            <a:ln>
              <a:noFill/>
            </a:ln>
          </p:spPr>
          <p:txBody>
            <a:bodyPr wrap="none" lIns="0" tIns="0" rIns="0" bIns="0" anchor="t" anchorCtr="0">
              <a:spAutoFit/>
            </a:bodyPr>
            <a:lstStyle/>
            <a:p>
              <a:pPr algn="ctr"/>
              <a:r>
                <a:rPr lang="en-US" sz="2850" b="1" dirty="0">
                  <a:solidFill>
                    <a:schemeClr val="accent6"/>
                  </a:solidFill>
                  <a:latin typeface="+mn-lt"/>
                  <a:ea typeface="+mn-ea"/>
                  <a:cs typeface="+mn-cs"/>
                </a:rPr>
                <a:t>and distinguishable-photon controls?</a:t>
              </a:r>
            </a:p>
          </p:txBody>
        </p:sp>
        <p:sp>
          <p:nvSpPr>
            <p:cNvPr id="14" name="Freeform 14"/>
            <p:cNvSpPr/>
            <p:nvPr/>
          </p:nvSpPr>
          <p:spPr>
            <a:xfrm>
              <a:off x="2238375" y="4524375"/>
              <a:ext cx="8048625" cy="95250"/>
            </a:xfrm>
            <a:custGeom>
              <a:avLst/>
              <a:gdLst/>
              <a:ahLst/>
              <a:cxnLst/>
              <a:rect l="l" t="t" r="r" b="b"/>
              <a:pathLst>
                <a:path w="8048625" h="95250">
                  <a:moveTo>
                    <a:pt x="0" y="95250"/>
                  </a:moveTo>
                  <a:cubicBezTo>
                    <a:pt x="2295525" y="0"/>
                    <a:pt x="5695950" y="47625"/>
                    <a:pt x="8048625" y="95250"/>
                  </a:cubicBezTo>
                </a:path>
              </a:pathLst>
            </a:custGeom>
            <a:noFill/>
            <a:ln w="28575" cap="rnd">
              <a:solidFill>
                <a:schemeClr val="accent6"/>
              </a:solidFill>
            </a:ln>
          </p:spPr>
        </p:sp>
      </p:grpSp>
      <p:grpSp>
        <p:nvGrpSpPr>
          <p:cNvPr id="18" name="Group 18"/>
          <p:cNvGrpSpPr/>
          <p:nvPr/>
        </p:nvGrpSpPr>
        <p:grpSpPr>
          <a:xfrm>
            <a:off x="798957" y="5231130"/>
            <a:ext cx="7354755" cy="733235"/>
            <a:chOff x="798957" y="5231130"/>
            <a:chExt cx="7354755" cy="733235"/>
          </a:xfrm>
        </p:grpSpPr>
        <p:sp>
          <p:nvSpPr>
            <p:cNvPr id="16" name="TextBox 16"/>
            <p:cNvSpPr txBox="1"/>
            <p:nvPr/>
          </p:nvSpPr>
          <p:spPr>
            <a:xfrm>
              <a:off x="798957" y="5231130"/>
              <a:ext cx="6190694"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NOW: exact simulation · 2 photons · 4 modes</a:t>
              </a:r>
            </a:p>
          </p:txBody>
        </p:sp>
        <p:sp>
          <p:nvSpPr>
            <p:cNvPr id="17" name="TextBox 17"/>
            <p:cNvSpPr txBox="1"/>
            <p:nvPr/>
          </p:nvSpPr>
          <p:spPr>
            <a:xfrm>
              <a:off x="801243" y="5641658"/>
              <a:ext cx="7352469"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LATER: finite shots · photon loss · site shift · hardware validation</a:t>
              </a:r>
            </a:p>
          </p:txBody>
        </p:sp>
      </p:grpSp>
      <p:grpSp>
        <p:nvGrpSpPr>
          <p:cNvPr id="21" name="Group 21"/>
          <p:cNvGrpSpPr/>
          <p:nvPr/>
        </p:nvGrpSpPr>
        <p:grpSpPr>
          <a:xfrm>
            <a:off x="755904" y="6147435"/>
            <a:ext cx="10632567" cy="234696"/>
            <a:chOff x="755904" y="6147435"/>
            <a:chExt cx="10632567" cy="234696"/>
          </a:xfrm>
        </p:grpSpPr>
        <p:sp>
          <p:nvSpPr>
            <p:cNvPr id="19" name="TextBox 19"/>
            <p:cNvSpPr txBox="1"/>
            <p:nvPr/>
          </p:nvSpPr>
          <p:spPr>
            <a:xfrm>
              <a:off x="755904" y="6147435"/>
              <a:ext cx="8526101"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Source: Photonic PV pilot review and approved NIST configuration · Hypothesis, not a demonstrated benefit</a:t>
              </a:r>
            </a:p>
          </p:txBody>
        </p:sp>
        <p:sp>
          <p:nvSpPr>
            <p:cNvPr id="20" name="TextBox 20"/>
            <p:cNvSpPr txBox="1"/>
            <p:nvPr/>
          </p:nvSpPr>
          <p:spPr>
            <a:xfrm>
              <a:off x="10835107" y="614743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9809128" cy="1087755"/>
            <a:chOff x="742950" y="717232"/>
            <a:chExt cx="9809128" cy="1087755"/>
          </a:xfrm>
        </p:grpSpPr>
        <p:sp>
          <p:nvSpPr>
            <p:cNvPr id="3" name="TextBox 3"/>
            <p:cNvSpPr txBox="1"/>
            <p:nvPr/>
          </p:nvSpPr>
          <p:spPr>
            <a:xfrm>
              <a:off x="753618" y="717232"/>
              <a:ext cx="323209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04 / PROPOSED ARCHITECTURE</a:t>
              </a:r>
            </a:p>
          </p:txBody>
        </p:sp>
        <p:sp>
          <p:nvSpPr>
            <p:cNvPr id="4" name="TextBox 4"/>
            <p:cNvSpPr txBox="1"/>
            <p:nvPr/>
          </p:nvSpPr>
          <p:spPr>
            <a:xfrm>
              <a:off x="742950" y="1071562"/>
              <a:ext cx="9809128"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Proposed model and comparator paths</a:t>
              </a:r>
            </a:p>
          </p:txBody>
        </p:sp>
      </p:grpSp>
      <p:grpSp>
        <p:nvGrpSpPr>
          <p:cNvPr id="8" name="Group 8"/>
          <p:cNvGrpSpPr/>
          <p:nvPr/>
        </p:nvGrpSpPr>
        <p:grpSpPr>
          <a:xfrm>
            <a:off x="798957" y="1783080"/>
            <a:ext cx="6441808" cy="695135"/>
            <a:chOff x="798957" y="1783080"/>
            <a:chExt cx="6441808" cy="695135"/>
          </a:xfrm>
        </p:grpSpPr>
        <p:sp>
          <p:nvSpPr>
            <p:cNvPr id="6" name="TextBox 6"/>
            <p:cNvSpPr txBox="1"/>
            <p:nvPr/>
          </p:nvSpPr>
          <p:spPr>
            <a:xfrm>
              <a:off x="798957" y="1783080"/>
              <a:ext cx="5640927"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Input at t: P(t), P(t−15), GHI(t), T(t)</a:t>
              </a:r>
            </a:p>
          </p:txBody>
        </p:sp>
        <p:sp>
          <p:nvSpPr>
            <p:cNvPr id="7" name="TextBox 7"/>
            <p:cNvSpPr txBox="1"/>
            <p:nvPr/>
          </p:nvSpPr>
          <p:spPr>
            <a:xfrm>
              <a:off x="801243" y="2155508"/>
              <a:ext cx="6439522"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Train-only scaling · Lagged inputs provide classical memory</a:t>
              </a:r>
            </a:p>
          </p:txBody>
        </p:sp>
      </p:grpSp>
      <p:grpSp>
        <p:nvGrpSpPr>
          <p:cNvPr id="13" name="Group 13"/>
          <p:cNvGrpSpPr/>
          <p:nvPr/>
        </p:nvGrpSpPr>
        <p:grpSpPr>
          <a:xfrm>
            <a:off x="619125" y="2447925"/>
            <a:ext cx="228600" cy="2495551"/>
            <a:chOff x="619125" y="2447925"/>
            <a:chExt cx="228600" cy="2495551"/>
          </a:xfrm>
        </p:grpSpPr>
        <p:sp>
          <p:nvSpPr>
            <p:cNvPr id="9" name="Freeform 9"/>
            <p:cNvSpPr/>
            <p:nvPr/>
          </p:nvSpPr>
          <p:spPr>
            <a:xfrm>
              <a:off x="619125" y="2447925"/>
              <a:ext cx="9525" cy="2495550"/>
            </a:xfrm>
            <a:custGeom>
              <a:avLst/>
              <a:gdLst/>
              <a:ahLst/>
              <a:cxnLst/>
              <a:rect l="l" t="t" r="r" b="b"/>
              <a:pathLst>
                <a:path w="9525" h="2495550">
                  <a:moveTo>
                    <a:pt x="0" y="0"/>
                  </a:moveTo>
                  <a:lnTo>
                    <a:pt x="0" y="2495550"/>
                  </a:lnTo>
                </a:path>
              </a:pathLst>
            </a:custGeom>
            <a:noFill/>
            <a:ln w="19050">
              <a:solidFill>
                <a:schemeClr val="accent5"/>
              </a:solidFill>
            </a:ln>
          </p:spPr>
        </p:sp>
        <p:sp>
          <p:nvSpPr>
            <p:cNvPr id="10" name="Line 10"/>
            <p:cNvSpPr/>
            <p:nvPr/>
          </p:nvSpPr>
          <p:spPr>
            <a:xfrm>
              <a:off x="619125" y="3276600"/>
              <a:ext cx="228600" cy="1"/>
            </a:xfrm>
            <a:prstGeom prst="line">
              <a:avLst/>
            </a:prstGeom>
            <a:noFill/>
            <a:ln w="19050">
              <a:solidFill>
                <a:schemeClr val="accent5"/>
              </a:solidFill>
              <a:tailEnd type="triangle" w="lg" len="lg"/>
            </a:ln>
          </p:spPr>
        </p:sp>
        <p:sp>
          <p:nvSpPr>
            <p:cNvPr id="11" name="Line 11"/>
            <p:cNvSpPr/>
            <p:nvPr/>
          </p:nvSpPr>
          <p:spPr>
            <a:xfrm>
              <a:off x="619125" y="4152900"/>
              <a:ext cx="228600" cy="1"/>
            </a:xfrm>
            <a:prstGeom prst="line">
              <a:avLst/>
            </a:prstGeom>
            <a:noFill/>
            <a:ln w="19050">
              <a:solidFill>
                <a:schemeClr val="accent5"/>
              </a:solidFill>
              <a:tailEnd type="triangle" w="lg" len="lg"/>
            </a:ln>
          </p:spPr>
        </p:sp>
        <p:sp>
          <p:nvSpPr>
            <p:cNvPr id="12" name="Line 12"/>
            <p:cNvSpPr/>
            <p:nvPr/>
          </p:nvSpPr>
          <p:spPr>
            <a:xfrm>
              <a:off x="619125" y="4943475"/>
              <a:ext cx="228600" cy="1"/>
            </a:xfrm>
            <a:prstGeom prst="line">
              <a:avLst/>
            </a:prstGeom>
            <a:noFill/>
            <a:ln w="19050">
              <a:solidFill>
                <a:schemeClr val="accent5"/>
              </a:solidFill>
              <a:tailEnd type="triangle" w="lg" len="lg"/>
            </a:ln>
          </p:spPr>
        </p:sp>
      </p:grpSp>
      <p:grpSp>
        <p:nvGrpSpPr>
          <p:cNvPr id="28" name="Group 28"/>
          <p:cNvGrpSpPr/>
          <p:nvPr/>
        </p:nvGrpSpPr>
        <p:grpSpPr>
          <a:xfrm>
            <a:off x="904875" y="2628900"/>
            <a:ext cx="7639050" cy="1064895"/>
            <a:chOff x="904875" y="2628900"/>
            <a:chExt cx="7639050" cy="1064895"/>
          </a:xfrm>
        </p:grpSpPr>
        <p:sp>
          <p:nvSpPr>
            <p:cNvPr id="14" name="Freeform 14"/>
            <p:cNvSpPr/>
            <p:nvPr/>
          </p:nvSpPr>
          <p:spPr>
            <a:xfrm>
              <a:off x="904875" y="2628900"/>
              <a:ext cx="7639050" cy="1009650"/>
            </a:xfrm>
            <a:custGeom>
              <a:avLst/>
              <a:gdLst/>
              <a:ahLst/>
              <a:cxnLst/>
              <a:rect l="l" t="t" r="r" b="b"/>
              <a:pathLst>
                <a:path w="7639050" h="1009650">
                  <a:moveTo>
                    <a:pt x="19050" y="19050"/>
                  </a:moveTo>
                  <a:lnTo>
                    <a:pt x="7610475" y="0"/>
                  </a:lnTo>
                  <a:lnTo>
                    <a:pt x="7639050" y="990600"/>
                  </a:lnTo>
                  <a:lnTo>
                    <a:pt x="0" y="1009650"/>
                  </a:lnTo>
                  <a:close/>
                </a:path>
              </a:pathLst>
            </a:custGeom>
            <a:noFill/>
            <a:ln w="19050">
              <a:solidFill>
                <a:schemeClr val="accent5"/>
              </a:solidFill>
            </a:ln>
          </p:spPr>
        </p:sp>
        <p:sp>
          <p:nvSpPr>
            <p:cNvPr id="15" name="TextBox 15"/>
            <p:cNvSpPr txBox="1"/>
            <p:nvPr/>
          </p:nvSpPr>
          <p:spPr>
            <a:xfrm>
              <a:off x="1020318" y="2736532"/>
              <a:ext cx="4848946" cy="322707"/>
            </a:xfrm>
            <a:prstGeom prst="rect">
              <a:avLst/>
            </a:prstGeom>
            <a:noFill/>
            <a:ln>
              <a:noFill/>
            </a:ln>
          </p:spPr>
          <p:txBody>
            <a:bodyPr wrap="none" lIns="0" tIns="0" rIns="0" bIns="0" anchor="t" anchorCtr="0">
              <a:spAutoFit/>
            </a:bodyPr>
            <a:lstStyle/>
            <a:p>
              <a:pPr algn="l"/>
              <a:r>
                <a:rPr lang="en-US" sz="1650" b="1" dirty="0">
                  <a:solidFill>
                    <a:schemeClr val="accent5"/>
                  </a:solidFill>
                  <a:latin typeface="+mn-lt"/>
                  <a:ea typeface="+mn-ea"/>
                  <a:cs typeface="+mn-cs"/>
                </a:rPr>
                <a:t>PROPOSED · 2 photons / 4 modes / 5 seeds</a:t>
              </a:r>
            </a:p>
          </p:txBody>
        </p:sp>
        <p:sp>
          <p:nvSpPr>
            <p:cNvPr id="16" name="TextBox 16"/>
            <p:cNvSpPr txBox="1"/>
            <p:nvPr/>
          </p:nvSpPr>
          <p:spPr>
            <a:xfrm>
              <a:off x="1020318" y="3165158"/>
              <a:ext cx="512350" cy="322707"/>
            </a:xfrm>
            <a:prstGeom prst="rect">
              <a:avLst/>
            </a:prstGeom>
            <a:noFill/>
            <a:ln>
              <a:noFill/>
            </a:ln>
          </p:spPr>
          <p:txBody>
            <a:bodyPr wrap="none" lIns="0" tIns="0" rIns="0" bIns="0" anchor="t" anchorCtr="0">
              <a:spAutoFit/>
            </a:bodyPr>
            <a:lstStyle/>
            <a:p>
              <a:pPr algn="l"/>
              <a:r>
                <a:rPr lang="en-US" sz="1650" dirty="0">
                  <a:solidFill>
                    <a:srgbClr val="F7F9FC"/>
                  </a:solidFill>
                  <a:latin typeface="+mn-lt"/>
                  <a:ea typeface="+mn-ea"/>
                  <a:cs typeface="+mn-cs"/>
                </a:rPr>
                <a:t>Fock</a:t>
              </a:r>
            </a:p>
          </p:txBody>
        </p:sp>
        <p:sp>
          <p:nvSpPr>
            <p:cNvPr id="17" name="Line 17"/>
            <p:cNvSpPr/>
            <p:nvPr/>
          </p:nvSpPr>
          <p:spPr>
            <a:xfrm>
              <a:off x="1562100" y="3276600"/>
              <a:ext cx="247650" cy="1"/>
            </a:xfrm>
            <a:prstGeom prst="line">
              <a:avLst/>
            </a:prstGeom>
            <a:noFill/>
            <a:ln w="19050">
              <a:solidFill>
                <a:schemeClr val="accent5"/>
              </a:solidFill>
              <a:tailEnd type="triangle" w="lg" len="lg"/>
            </a:ln>
          </p:spPr>
        </p:sp>
        <p:sp>
          <p:nvSpPr>
            <p:cNvPr id="18" name="TextBox 18"/>
            <p:cNvSpPr txBox="1"/>
            <p:nvPr/>
          </p:nvSpPr>
          <p:spPr>
            <a:xfrm>
              <a:off x="1922907" y="3116580"/>
              <a:ext cx="349910"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V1</a:t>
              </a:r>
            </a:p>
          </p:txBody>
        </p:sp>
        <p:sp>
          <p:nvSpPr>
            <p:cNvPr id="19" name="Line 19"/>
            <p:cNvSpPr/>
            <p:nvPr/>
          </p:nvSpPr>
          <p:spPr>
            <a:xfrm>
              <a:off x="2352675" y="3276600"/>
              <a:ext cx="257175" cy="1"/>
            </a:xfrm>
            <a:prstGeom prst="line">
              <a:avLst/>
            </a:prstGeom>
            <a:noFill/>
            <a:ln w="19050">
              <a:solidFill>
                <a:schemeClr val="accent5"/>
              </a:solidFill>
              <a:tailEnd type="triangle" w="lg" len="lg"/>
            </a:ln>
          </p:spPr>
        </p:sp>
        <p:sp>
          <p:nvSpPr>
            <p:cNvPr id="20" name="TextBox 20"/>
            <p:cNvSpPr txBox="1"/>
            <p:nvPr/>
          </p:nvSpPr>
          <p:spPr>
            <a:xfrm>
              <a:off x="2723007" y="3116580"/>
              <a:ext cx="1130275" cy="410718"/>
            </a:xfrm>
            <a:prstGeom prst="rect">
              <a:avLst/>
            </a:prstGeom>
            <a:noFill/>
            <a:ln>
              <a:noFill/>
            </a:ln>
          </p:spPr>
          <p:txBody>
            <a:bodyPr wrap="none" lIns="0" tIns="0" rIns="0" bIns="0" anchor="t" anchorCtr="0">
              <a:spAutoFit/>
            </a:bodyPr>
            <a:lstStyle/>
            <a:p>
              <a:pPr algn="l"/>
              <a:r>
                <a:rPr lang="el-GR" sz="2100" dirty="0">
                  <a:solidFill>
                    <a:schemeClr val="accent5"/>
                  </a:solidFill>
                  <a:latin typeface="+mn-lt"/>
                  <a:ea typeface="+mn-ea"/>
                  <a:cs typeface="+mn-cs"/>
                </a:rPr>
                <a:t>D(φ(x))</a:t>
              </a:r>
            </a:p>
          </p:txBody>
        </p:sp>
        <p:sp>
          <p:nvSpPr>
            <p:cNvPr id="21" name="Line 21"/>
            <p:cNvSpPr/>
            <p:nvPr/>
          </p:nvSpPr>
          <p:spPr>
            <a:xfrm>
              <a:off x="3638550" y="3276600"/>
              <a:ext cx="266700" cy="1"/>
            </a:xfrm>
            <a:prstGeom prst="line">
              <a:avLst/>
            </a:prstGeom>
            <a:noFill/>
            <a:ln w="19050">
              <a:solidFill>
                <a:schemeClr val="accent5"/>
              </a:solidFill>
              <a:tailEnd type="triangle" w="lg" len="lg"/>
            </a:ln>
          </p:spPr>
        </p:sp>
        <p:sp>
          <p:nvSpPr>
            <p:cNvPr id="22" name="TextBox 22"/>
            <p:cNvSpPr txBox="1"/>
            <p:nvPr/>
          </p:nvSpPr>
          <p:spPr>
            <a:xfrm>
              <a:off x="4018407" y="3116580"/>
              <a:ext cx="349910"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V2</a:t>
              </a:r>
            </a:p>
          </p:txBody>
        </p:sp>
        <p:sp>
          <p:nvSpPr>
            <p:cNvPr id="23" name="Line 23"/>
            <p:cNvSpPr/>
            <p:nvPr/>
          </p:nvSpPr>
          <p:spPr>
            <a:xfrm>
              <a:off x="4448175" y="3276600"/>
              <a:ext cx="266700" cy="1"/>
            </a:xfrm>
            <a:prstGeom prst="line">
              <a:avLst/>
            </a:prstGeom>
            <a:noFill/>
            <a:ln w="19050">
              <a:solidFill>
                <a:schemeClr val="accent5"/>
              </a:solidFill>
              <a:tailEnd type="triangle" w="lg" len="lg"/>
            </a:ln>
          </p:spPr>
        </p:sp>
        <p:sp>
          <p:nvSpPr>
            <p:cNvPr id="24" name="TextBox 24"/>
            <p:cNvSpPr txBox="1"/>
            <p:nvPr/>
          </p:nvSpPr>
          <p:spPr>
            <a:xfrm>
              <a:off x="4830318" y="3165158"/>
              <a:ext cx="1693793" cy="322707"/>
            </a:xfrm>
            <a:prstGeom prst="rect">
              <a:avLst/>
            </a:prstGeom>
            <a:noFill/>
            <a:ln>
              <a:noFill/>
            </a:ln>
          </p:spPr>
          <p:txBody>
            <a:bodyPr wrap="none" lIns="0" tIns="0" rIns="0" bIns="0" anchor="t" anchorCtr="0">
              <a:spAutoFit/>
            </a:bodyPr>
            <a:lstStyle/>
            <a:p>
              <a:pPr algn="l"/>
              <a:r>
                <a:rPr lang="en-US" sz="1650" dirty="0">
                  <a:solidFill>
                    <a:srgbClr val="F7F9FC"/>
                  </a:solidFill>
                  <a:latin typeface="+mn-lt"/>
                  <a:ea typeface="+mn-ea"/>
                  <a:cs typeface="+mn-cs"/>
                </a:rPr>
                <a:t>10 probabilities</a:t>
              </a:r>
            </a:p>
          </p:txBody>
        </p:sp>
        <p:sp>
          <p:nvSpPr>
            <p:cNvPr id="25" name="Line 25"/>
            <p:cNvSpPr/>
            <p:nvPr/>
          </p:nvSpPr>
          <p:spPr>
            <a:xfrm>
              <a:off x="6315075" y="3276600"/>
              <a:ext cx="276225" cy="1"/>
            </a:xfrm>
            <a:prstGeom prst="line">
              <a:avLst/>
            </a:prstGeom>
            <a:noFill/>
            <a:ln w="19050">
              <a:solidFill>
                <a:schemeClr val="accent5"/>
              </a:solidFill>
              <a:tailEnd type="triangle" w="lg" len="lg"/>
            </a:ln>
          </p:spPr>
        </p:sp>
        <p:sp>
          <p:nvSpPr>
            <p:cNvPr id="26" name="TextBox 26"/>
            <p:cNvSpPr txBox="1"/>
            <p:nvPr/>
          </p:nvSpPr>
          <p:spPr>
            <a:xfrm>
              <a:off x="6706743" y="3165158"/>
              <a:ext cx="1489691" cy="322707"/>
            </a:xfrm>
            <a:prstGeom prst="rect">
              <a:avLst/>
            </a:prstGeom>
            <a:noFill/>
            <a:ln>
              <a:noFill/>
            </a:ln>
          </p:spPr>
          <p:txBody>
            <a:bodyPr wrap="none" lIns="0" tIns="0" rIns="0" bIns="0" anchor="t" anchorCtr="0">
              <a:spAutoFit/>
            </a:bodyPr>
            <a:lstStyle/>
            <a:p>
              <a:pPr algn="l"/>
              <a:r>
                <a:rPr lang="en-US" sz="1650" dirty="0">
                  <a:solidFill>
                    <a:srgbClr val="F7F9FC"/>
                  </a:solidFill>
                  <a:latin typeface="+mn-lt"/>
                  <a:ea typeface="+mn-ea"/>
                  <a:cs typeface="+mn-cs"/>
                </a:rPr>
                <a:t>Quantile head</a:t>
              </a:r>
            </a:p>
          </p:txBody>
        </p:sp>
        <p:sp>
          <p:nvSpPr>
            <p:cNvPr id="27" name="TextBox 27"/>
            <p:cNvSpPr txBox="1"/>
            <p:nvPr/>
          </p:nvSpPr>
          <p:spPr>
            <a:xfrm>
              <a:off x="1021080" y="3400425"/>
              <a:ext cx="7233541" cy="293370"/>
            </a:xfrm>
            <a:prstGeom prst="rect">
              <a:avLst/>
            </a:prstGeom>
            <a:noFill/>
            <a:ln>
              <a:noFill/>
            </a:ln>
          </p:spPr>
          <p:txBody>
            <a:bodyPr wrap="none" lIns="0" tIns="0" rIns="0" bIns="0" anchor="t" anchorCtr="0">
              <a:spAutoFit/>
            </a:bodyPr>
            <a:lstStyle/>
            <a:p>
              <a:pPr algn="l"/>
              <a:r>
                <a:rPr lang="en-US" sz="1500" dirty="0">
                  <a:solidFill>
                    <a:srgbClr val="E7EDF4"/>
                  </a:solidFill>
                  <a:latin typeface="+mn-lt"/>
                  <a:ea typeface="+mn-ea"/>
                  <a:cs typeface="+mn-cs"/>
                </a:rPr>
                <a:t>V1, V2 fixed per seed · Data-dependent phase · Classical readout trained</a:t>
              </a:r>
            </a:p>
          </p:txBody>
        </p:sp>
      </p:grpSp>
      <p:grpSp>
        <p:nvGrpSpPr>
          <p:cNvPr id="31" name="Group 31"/>
          <p:cNvGrpSpPr/>
          <p:nvPr/>
        </p:nvGrpSpPr>
        <p:grpSpPr>
          <a:xfrm>
            <a:off x="1020318" y="3822382"/>
            <a:ext cx="6698826" cy="646557"/>
            <a:chOff x="1020318" y="3822382"/>
            <a:chExt cx="6698826" cy="646557"/>
          </a:xfrm>
        </p:grpSpPr>
        <p:sp>
          <p:nvSpPr>
            <p:cNvPr id="29" name="TextBox 29"/>
            <p:cNvSpPr txBox="1"/>
            <p:nvPr/>
          </p:nvSpPr>
          <p:spPr>
            <a:xfrm>
              <a:off x="1020318" y="3822382"/>
              <a:ext cx="2394821" cy="322707"/>
            </a:xfrm>
            <a:prstGeom prst="rect">
              <a:avLst/>
            </a:prstGeom>
            <a:noFill/>
            <a:ln>
              <a:noFill/>
            </a:ln>
          </p:spPr>
          <p:txBody>
            <a:bodyPr wrap="none" lIns="0" tIns="0" rIns="0" bIns="0" anchor="t" anchorCtr="0">
              <a:spAutoFit/>
            </a:bodyPr>
            <a:lstStyle/>
            <a:p>
              <a:pPr algn="l"/>
              <a:r>
                <a:rPr lang="en-US" sz="1650" b="1" dirty="0">
                  <a:solidFill>
                    <a:schemeClr val="accent6"/>
                  </a:solidFill>
                  <a:latin typeface="+mn-lt"/>
                  <a:ea typeface="+mn-ea"/>
                  <a:cs typeface="+mn-cs"/>
                </a:rPr>
                <a:t>MECHANISM CONTROL</a:t>
              </a:r>
            </a:p>
          </p:txBody>
        </p:sp>
        <p:sp>
          <p:nvSpPr>
            <p:cNvPr id="30" name="TextBox 30"/>
            <p:cNvSpPr txBox="1"/>
            <p:nvPr/>
          </p:nvSpPr>
          <p:spPr>
            <a:xfrm>
              <a:off x="1020318" y="4146232"/>
              <a:ext cx="6698826"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Distinguishable photons → same circuit, inputs and head policy</a:t>
              </a:r>
            </a:p>
          </p:txBody>
        </p:sp>
      </p:grpSp>
      <p:grpSp>
        <p:nvGrpSpPr>
          <p:cNvPr id="35" name="Group 35"/>
          <p:cNvGrpSpPr/>
          <p:nvPr/>
        </p:nvGrpSpPr>
        <p:grpSpPr>
          <a:xfrm>
            <a:off x="1020318" y="4479608"/>
            <a:ext cx="6301506" cy="894207"/>
            <a:chOff x="1020318" y="4479608"/>
            <a:chExt cx="6301506" cy="894207"/>
          </a:xfrm>
        </p:grpSpPr>
        <p:sp>
          <p:nvSpPr>
            <p:cNvPr id="32" name="TextBox 32"/>
            <p:cNvSpPr txBox="1"/>
            <p:nvPr/>
          </p:nvSpPr>
          <p:spPr>
            <a:xfrm>
              <a:off x="1020318" y="4479608"/>
              <a:ext cx="2887683" cy="322707"/>
            </a:xfrm>
            <a:prstGeom prst="rect">
              <a:avLst/>
            </a:prstGeom>
            <a:noFill/>
            <a:ln>
              <a:noFill/>
            </a:ln>
          </p:spPr>
          <p:txBody>
            <a:bodyPr wrap="none" lIns="0" tIns="0" rIns="0" bIns="0" anchor="t" anchorCtr="0">
              <a:spAutoFit/>
            </a:bodyPr>
            <a:lstStyle/>
            <a:p>
              <a:pPr algn="l"/>
              <a:r>
                <a:rPr lang="en-US" sz="1650" b="1" dirty="0">
                  <a:solidFill>
                    <a:srgbClr val="F7F9FC"/>
                  </a:solidFill>
                  <a:latin typeface="+mn-lt"/>
                  <a:ea typeface="+mn-ea"/>
                  <a:cs typeface="+mn-cs"/>
                </a:rPr>
                <a:t>CLASSICAL COMPARATORS</a:t>
              </a:r>
            </a:p>
          </p:txBody>
        </p:sp>
        <p:sp>
          <p:nvSpPr>
            <p:cNvPr id="33" name="TextBox 33"/>
            <p:cNvSpPr txBox="1"/>
            <p:nvPr/>
          </p:nvSpPr>
          <p:spPr>
            <a:xfrm>
              <a:off x="1020318" y="4765358"/>
              <a:ext cx="3323044"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Raw / RFF (10) → quantile head</a:t>
              </a:r>
            </a:p>
          </p:txBody>
        </p:sp>
        <p:sp>
          <p:nvSpPr>
            <p:cNvPr id="34" name="TextBox 34"/>
            <p:cNvSpPr txBox="1"/>
            <p:nvPr/>
          </p:nvSpPr>
          <p:spPr>
            <a:xfrm>
              <a:off x="1020318" y="5051108"/>
              <a:ext cx="6301506"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Extended lags → XGBoost* · P(t) + residuals → persistence</a:t>
              </a:r>
            </a:p>
          </p:txBody>
        </p:sp>
      </p:grpSp>
      <p:grpSp>
        <p:nvGrpSpPr>
          <p:cNvPr id="38" name="Group 38"/>
          <p:cNvGrpSpPr/>
          <p:nvPr/>
        </p:nvGrpSpPr>
        <p:grpSpPr>
          <a:xfrm>
            <a:off x="8629650" y="3276600"/>
            <a:ext cx="742950" cy="1666875"/>
            <a:chOff x="8629650" y="3276600"/>
            <a:chExt cx="742950" cy="1666875"/>
          </a:xfrm>
        </p:grpSpPr>
        <p:sp>
          <p:nvSpPr>
            <p:cNvPr id="36" name="Freeform 36"/>
            <p:cNvSpPr/>
            <p:nvPr/>
          </p:nvSpPr>
          <p:spPr>
            <a:xfrm>
              <a:off x="8629650" y="3276600"/>
              <a:ext cx="409575" cy="1666875"/>
            </a:xfrm>
            <a:custGeom>
              <a:avLst/>
              <a:gdLst/>
              <a:ahLst/>
              <a:cxnLst/>
              <a:rect l="l" t="t" r="r" b="b"/>
              <a:pathLst>
                <a:path w="409575" h="1666875">
                  <a:moveTo>
                    <a:pt x="0" y="0"/>
                  </a:moveTo>
                  <a:lnTo>
                    <a:pt x="409575" y="0"/>
                  </a:lnTo>
                  <a:lnTo>
                    <a:pt x="409575" y="1666875"/>
                  </a:lnTo>
                  <a:lnTo>
                    <a:pt x="0" y="1666875"/>
                  </a:lnTo>
                  <a:moveTo>
                    <a:pt x="0" y="876300"/>
                  </a:moveTo>
                  <a:lnTo>
                    <a:pt x="409575" y="876300"/>
                  </a:lnTo>
                </a:path>
              </a:pathLst>
            </a:custGeom>
            <a:noFill/>
            <a:ln w="19050">
              <a:solidFill>
                <a:schemeClr val="accent5"/>
              </a:solidFill>
            </a:ln>
          </p:spPr>
        </p:sp>
        <p:sp>
          <p:nvSpPr>
            <p:cNvPr id="37" name="Line 37"/>
            <p:cNvSpPr/>
            <p:nvPr/>
          </p:nvSpPr>
          <p:spPr>
            <a:xfrm>
              <a:off x="9039225" y="4152900"/>
              <a:ext cx="333375" cy="1"/>
            </a:xfrm>
            <a:prstGeom prst="line">
              <a:avLst/>
            </a:prstGeom>
            <a:noFill/>
            <a:ln w="19050">
              <a:solidFill>
                <a:schemeClr val="accent5"/>
              </a:solidFill>
              <a:tailEnd type="triangle" w="lg" len="lg"/>
            </a:ln>
          </p:spPr>
        </p:sp>
      </p:grpSp>
      <p:grpSp>
        <p:nvGrpSpPr>
          <p:cNvPr id="45" name="Group 45"/>
          <p:cNvGrpSpPr/>
          <p:nvPr/>
        </p:nvGrpSpPr>
        <p:grpSpPr>
          <a:xfrm>
            <a:off x="9514332" y="2726055"/>
            <a:ext cx="1995966" cy="2425065"/>
            <a:chOff x="9514332" y="2726055"/>
            <a:chExt cx="1995966" cy="2425065"/>
          </a:xfrm>
        </p:grpSpPr>
        <p:sp>
          <p:nvSpPr>
            <p:cNvPr id="39" name="TextBox 39"/>
            <p:cNvSpPr txBox="1"/>
            <p:nvPr/>
          </p:nvSpPr>
          <p:spPr>
            <a:xfrm>
              <a:off x="9514332" y="2726055"/>
              <a:ext cx="1952877" cy="410718"/>
            </a:xfrm>
            <a:prstGeom prst="rect">
              <a:avLst/>
            </a:prstGeom>
            <a:noFill/>
            <a:ln>
              <a:noFill/>
            </a:ln>
          </p:spPr>
          <p:txBody>
            <a:bodyPr wrap="none" lIns="0" tIns="0" rIns="0" bIns="0" anchor="t" anchorCtr="0">
              <a:spAutoFit/>
            </a:bodyPr>
            <a:lstStyle/>
            <a:p>
              <a:pPr algn="l"/>
              <a:r>
                <a:rPr lang="en-US" sz="2100" b="1" dirty="0">
                  <a:solidFill>
                    <a:schemeClr val="accent5"/>
                  </a:solidFill>
                  <a:latin typeface="+mn-lt"/>
                  <a:ea typeface="+mn-ea"/>
                  <a:cs typeface="+mn-cs"/>
                </a:rPr>
                <a:t>OUTPUT (kW)</a:t>
              </a:r>
            </a:p>
          </p:txBody>
        </p:sp>
        <p:sp>
          <p:nvSpPr>
            <p:cNvPr id="40" name="TextBox 40"/>
            <p:cNvSpPr txBox="1"/>
            <p:nvPr/>
          </p:nvSpPr>
          <p:spPr>
            <a:xfrm>
              <a:off x="9514332" y="3192780"/>
              <a:ext cx="1519657"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7 quantiles</a:t>
              </a:r>
            </a:p>
          </p:txBody>
        </p:sp>
        <p:sp>
          <p:nvSpPr>
            <p:cNvPr id="41" name="TextBox 41"/>
            <p:cNvSpPr txBox="1"/>
            <p:nvPr/>
          </p:nvSpPr>
          <p:spPr>
            <a:xfrm>
              <a:off x="9516618" y="3555682"/>
              <a:ext cx="1116273"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0.05–0.95</a:t>
              </a:r>
            </a:p>
          </p:txBody>
        </p:sp>
        <p:sp>
          <p:nvSpPr>
            <p:cNvPr id="42" name="TextBox 42"/>
            <p:cNvSpPr txBox="1"/>
            <p:nvPr/>
          </p:nvSpPr>
          <p:spPr>
            <a:xfrm>
              <a:off x="9516618" y="4079558"/>
              <a:ext cx="1993680" cy="322707"/>
            </a:xfrm>
            <a:prstGeom prst="rect">
              <a:avLst/>
            </a:prstGeom>
            <a:noFill/>
            <a:ln>
              <a:noFill/>
            </a:ln>
          </p:spPr>
          <p:txBody>
            <a:bodyPr wrap="none" lIns="0" tIns="0" rIns="0" bIns="0" anchor="t" anchorCtr="0">
              <a:spAutoFit/>
            </a:bodyPr>
            <a:lstStyle/>
            <a:p>
              <a:pPr algn="l"/>
              <a:r>
                <a:rPr lang="en-US" sz="1650" dirty="0">
                  <a:solidFill>
                    <a:srgbClr val="F7F9FC"/>
                  </a:solidFill>
                  <a:latin typeface="+mn-lt"/>
                  <a:ea typeface="+mn-ea"/>
                  <a:cs typeface="+mn-cs"/>
                </a:rPr>
                <a:t>Target: t + 15 min</a:t>
              </a:r>
            </a:p>
          </p:txBody>
        </p:sp>
        <p:sp>
          <p:nvSpPr>
            <p:cNvPr id="43" name="TextBox 43"/>
            <p:cNvSpPr txBox="1"/>
            <p:nvPr/>
          </p:nvSpPr>
          <p:spPr>
            <a:xfrm>
              <a:off x="9516618" y="4384358"/>
              <a:ext cx="1582731"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5-minute mean</a:t>
              </a:r>
            </a:p>
          </p:txBody>
        </p:sp>
        <p:sp>
          <p:nvSpPr>
            <p:cNvPr id="44" name="TextBox 44"/>
            <p:cNvSpPr txBox="1"/>
            <p:nvPr/>
          </p:nvSpPr>
          <p:spPr>
            <a:xfrm>
              <a:off x="9517380" y="4857750"/>
              <a:ext cx="1802320" cy="293370"/>
            </a:xfrm>
            <a:prstGeom prst="rect">
              <a:avLst/>
            </a:prstGeom>
            <a:noFill/>
            <a:ln>
              <a:noFill/>
            </a:ln>
          </p:spPr>
          <p:txBody>
            <a:bodyPr wrap="none" lIns="0" tIns="0" rIns="0" bIns="0" anchor="t" anchorCtr="0">
              <a:spAutoFit/>
            </a:bodyPr>
            <a:lstStyle/>
            <a:p>
              <a:pPr algn="l"/>
              <a:r>
                <a:rPr lang="en-US" sz="1500" dirty="0">
                  <a:solidFill>
                    <a:srgbClr val="E7EDF4"/>
                  </a:solidFill>
                  <a:latin typeface="+mn-lt"/>
                  <a:ea typeface="+mn-ea"/>
                  <a:cs typeface="+mn-cs"/>
                </a:rPr>
                <a:t>q50 + 90% interval</a:t>
              </a:r>
            </a:p>
          </p:txBody>
        </p:sp>
      </p:grpSp>
      <p:grpSp>
        <p:nvGrpSpPr>
          <p:cNvPr id="48" name="Group 48"/>
          <p:cNvGrpSpPr/>
          <p:nvPr/>
        </p:nvGrpSpPr>
        <p:grpSpPr>
          <a:xfrm>
            <a:off x="801243" y="5413058"/>
            <a:ext cx="8352703" cy="665607"/>
            <a:chOff x="801243" y="5413058"/>
            <a:chExt cx="8352703" cy="665607"/>
          </a:xfrm>
        </p:grpSpPr>
        <p:sp>
          <p:nvSpPr>
            <p:cNvPr id="46" name="TextBox 46"/>
            <p:cNvSpPr txBox="1"/>
            <p:nvPr/>
          </p:nvSpPr>
          <p:spPr>
            <a:xfrm>
              <a:off x="801243" y="5413058"/>
              <a:ext cx="8068615"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*XGBoost: lags 0/5/10/15/30/60 min + current weather + solar geometry.</a:t>
              </a:r>
            </a:p>
          </p:txBody>
        </p:sp>
        <p:sp>
          <p:nvSpPr>
            <p:cNvPr id="47" name="TextBox 47"/>
            <p:cNvSpPr txBox="1"/>
            <p:nvPr/>
          </p:nvSpPr>
          <p:spPr>
            <a:xfrm>
              <a:off x="801243" y="5755958"/>
              <a:ext cx="8352703"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Evaluate: normalized WIS / skill · 90% coverage / width · runtime / peak RAM</a:t>
              </a:r>
            </a:p>
          </p:txBody>
        </p:sp>
      </p:grpSp>
      <p:grpSp>
        <p:nvGrpSpPr>
          <p:cNvPr id="51" name="Group 51"/>
          <p:cNvGrpSpPr/>
          <p:nvPr/>
        </p:nvGrpSpPr>
        <p:grpSpPr>
          <a:xfrm>
            <a:off x="755904" y="6204585"/>
            <a:ext cx="10632567" cy="234696"/>
            <a:chOff x="755904" y="6204585"/>
            <a:chExt cx="10632567" cy="234696"/>
          </a:xfrm>
        </p:grpSpPr>
        <p:sp>
          <p:nvSpPr>
            <p:cNvPr id="49" name="TextBox 49"/>
            <p:cNvSpPr txBox="1"/>
            <p:nvPr/>
          </p:nvSpPr>
          <p:spPr>
            <a:xfrm>
              <a:off x="755904" y="6204585"/>
              <a:ext cx="9515048"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Source: approved NIST configuration · Perceval SLOS exact simulation · No quantum state persists between timestamps</a:t>
              </a:r>
            </a:p>
          </p:txBody>
        </p:sp>
        <p:sp>
          <p:nvSpPr>
            <p:cNvPr id="50" name="TextBox 50"/>
            <p:cNvSpPr txBox="1"/>
            <p:nvPr/>
          </p:nvSpPr>
          <p:spPr>
            <a:xfrm>
              <a:off x="10835107" y="620458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10206824" cy="1087755"/>
            <a:chOff x="742950" y="717232"/>
            <a:chExt cx="10206824" cy="1087755"/>
          </a:xfrm>
        </p:grpSpPr>
        <p:sp>
          <p:nvSpPr>
            <p:cNvPr id="3" name="TextBox 3"/>
            <p:cNvSpPr txBox="1"/>
            <p:nvPr/>
          </p:nvSpPr>
          <p:spPr>
            <a:xfrm>
              <a:off x="753618" y="717232"/>
              <a:ext cx="2046884"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05 / THE FAIR TEST</a:t>
              </a:r>
            </a:p>
          </p:txBody>
        </p:sp>
        <p:sp>
          <p:nvSpPr>
            <p:cNvPr id="4" name="TextBox 4"/>
            <p:cNvSpPr txBox="1"/>
            <p:nvPr/>
          </p:nvSpPr>
          <p:spPr>
            <a:xfrm>
              <a:off x="742950" y="1071562"/>
              <a:ext cx="10206824"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Two comparisons, two different claims</a:t>
              </a:r>
            </a:p>
          </p:txBody>
        </p:sp>
      </p:grpSp>
      <p:grpSp>
        <p:nvGrpSpPr>
          <p:cNvPr id="11" name="Group 11"/>
          <p:cNvGrpSpPr/>
          <p:nvPr/>
        </p:nvGrpSpPr>
        <p:grpSpPr>
          <a:xfrm>
            <a:off x="798957" y="2135505"/>
            <a:ext cx="5172407" cy="2239518"/>
            <a:chOff x="798957" y="2135505"/>
            <a:chExt cx="5172407" cy="2239518"/>
          </a:xfrm>
        </p:grpSpPr>
        <p:sp>
          <p:nvSpPr>
            <p:cNvPr id="6" name="TextBox 6"/>
            <p:cNvSpPr txBox="1"/>
            <p:nvPr/>
          </p:nvSpPr>
          <p:spPr>
            <a:xfrm>
              <a:off x="798957" y="2135505"/>
              <a:ext cx="3314548" cy="410718"/>
            </a:xfrm>
            <a:prstGeom prst="rect">
              <a:avLst/>
            </a:prstGeom>
            <a:noFill/>
            <a:ln>
              <a:noFill/>
            </a:ln>
          </p:spPr>
          <p:txBody>
            <a:bodyPr wrap="none" lIns="0" tIns="0" rIns="0" bIns="0" anchor="t" anchorCtr="0">
              <a:spAutoFit/>
            </a:bodyPr>
            <a:lstStyle/>
            <a:p>
              <a:pPr algn="l"/>
              <a:r>
                <a:rPr lang="en-US" sz="2100" b="1" dirty="0">
                  <a:solidFill>
                    <a:schemeClr val="accent5"/>
                  </a:solidFill>
                  <a:latin typeface="+mn-lt"/>
                  <a:ea typeface="+mn-ea"/>
                  <a:cs typeface="+mn-cs"/>
                </a:rPr>
                <a:t>1 / APPLICATION VALUE</a:t>
              </a:r>
            </a:p>
          </p:txBody>
        </p:sp>
        <p:sp>
          <p:nvSpPr>
            <p:cNvPr id="7" name="TextBox 7"/>
            <p:cNvSpPr txBox="1"/>
            <p:nvPr/>
          </p:nvSpPr>
          <p:spPr>
            <a:xfrm>
              <a:off x="798957" y="2678430"/>
              <a:ext cx="1669445"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Persistence</a:t>
              </a:r>
            </a:p>
          </p:txBody>
        </p:sp>
        <p:sp>
          <p:nvSpPr>
            <p:cNvPr id="8" name="TextBox 8"/>
            <p:cNvSpPr txBox="1"/>
            <p:nvPr/>
          </p:nvSpPr>
          <p:spPr>
            <a:xfrm>
              <a:off x="798957" y="3107055"/>
              <a:ext cx="3635502"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Raw inputs + quantile head</a:t>
              </a:r>
            </a:p>
          </p:txBody>
        </p:sp>
        <p:sp>
          <p:nvSpPr>
            <p:cNvPr id="9" name="TextBox 9"/>
            <p:cNvSpPr txBox="1"/>
            <p:nvPr/>
          </p:nvSpPr>
          <p:spPr>
            <a:xfrm>
              <a:off x="798957" y="3535680"/>
              <a:ext cx="5172407"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Random Fourier features + same head</a:t>
              </a:r>
            </a:p>
          </p:txBody>
        </p:sp>
        <p:sp>
          <p:nvSpPr>
            <p:cNvPr id="10" name="TextBox 10"/>
            <p:cNvSpPr txBox="1"/>
            <p:nvPr/>
          </p:nvSpPr>
          <p:spPr>
            <a:xfrm>
              <a:off x="798957" y="3964305"/>
              <a:ext cx="4765074"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Strong lag-based quantile XGBoost</a:t>
              </a:r>
            </a:p>
          </p:txBody>
        </p:sp>
      </p:grpSp>
      <p:grpSp>
        <p:nvGrpSpPr>
          <p:cNvPr id="18" name="Group 18"/>
          <p:cNvGrpSpPr/>
          <p:nvPr/>
        </p:nvGrpSpPr>
        <p:grpSpPr>
          <a:xfrm>
            <a:off x="6656832" y="2135505"/>
            <a:ext cx="4678878" cy="2362010"/>
            <a:chOff x="6656832" y="2135505"/>
            <a:chExt cx="4678878" cy="2362010"/>
          </a:xfrm>
        </p:grpSpPr>
        <p:sp>
          <p:nvSpPr>
            <p:cNvPr id="12" name="TextBox 12"/>
            <p:cNvSpPr txBox="1"/>
            <p:nvPr/>
          </p:nvSpPr>
          <p:spPr>
            <a:xfrm>
              <a:off x="6656832" y="2135505"/>
              <a:ext cx="4678878" cy="410718"/>
            </a:xfrm>
            <a:prstGeom prst="rect">
              <a:avLst/>
            </a:prstGeom>
            <a:noFill/>
            <a:ln>
              <a:noFill/>
            </a:ln>
          </p:spPr>
          <p:txBody>
            <a:bodyPr wrap="none" lIns="0" tIns="0" rIns="0" bIns="0" anchor="t" anchorCtr="0">
              <a:spAutoFit/>
            </a:bodyPr>
            <a:lstStyle/>
            <a:p>
              <a:pPr algn="l"/>
              <a:r>
                <a:rPr lang="en-US" sz="2100" b="1" dirty="0">
                  <a:solidFill>
                    <a:schemeClr val="accent6"/>
                  </a:solidFill>
                  <a:latin typeface="+mn-lt"/>
                  <a:ea typeface="+mn-ea"/>
                  <a:cs typeface="+mn-cs"/>
                </a:rPr>
                <a:t>2 / INTERFERENCE CONTRIBUTION</a:t>
              </a:r>
            </a:p>
          </p:txBody>
        </p:sp>
        <p:sp>
          <p:nvSpPr>
            <p:cNvPr id="13" name="TextBox 13"/>
            <p:cNvSpPr txBox="1"/>
            <p:nvPr/>
          </p:nvSpPr>
          <p:spPr>
            <a:xfrm>
              <a:off x="6656832" y="2678430"/>
              <a:ext cx="3492603"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Indistinguishable photons</a:t>
              </a:r>
            </a:p>
          </p:txBody>
        </p:sp>
        <p:sp>
          <p:nvSpPr>
            <p:cNvPr id="14" name="TextBox 14"/>
            <p:cNvSpPr txBox="1"/>
            <p:nvPr/>
          </p:nvSpPr>
          <p:spPr>
            <a:xfrm>
              <a:off x="6656832" y="3107055"/>
              <a:ext cx="4261866"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versus distinguishable photons</a:t>
              </a:r>
            </a:p>
          </p:txBody>
        </p:sp>
        <p:sp>
          <p:nvSpPr>
            <p:cNvPr id="15" name="Freeform 15"/>
            <p:cNvSpPr/>
            <p:nvPr/>
          </p:nvSpPr>
          <p:spPr>
            <a:xfrm>
              <a:off x="6667500" y="3562350"/>
              <a:ext cx="4286250" cy="38100"/>
            </a:xfrm>
            <a:custGeom>
              <a:avLst/>
              <a:gdLst/>
              <a:ahLst/>
              <a:cxnLst/>
              <a:rect l="l" t="t" r="r" b="b"/>
              <a:pathLst>
                <a:path w="4286250" h="38100">
                  <a:moveTo>
                    <a:pt x="0" y="9525"/>
                  </a:moveTo>
                  <a:lnTo>
                    <a:pt x="3048000" y="38100"/>
                  </a:lnTo>
                  <a:lnTo>
                    <a:pt x="4286250" y="0"/>
                  </a:lnTo>
                </a:path>
              </a:pathLst>
            </a:custGeom>
            <a:noFill/>
            <a:ln w="23812">
              <a:solidFill>
                <a:schemeClr val="accent6"/>
              </a:solidFill>
            </a:ln>
          </p:spPr>
        </p:sp>
        <p:sp>
          <p:nvSpPr>
            <p:cNvPr id="16" name="TextBox 16"/>
            <p:cNvSpPr txBox="1"/>
            <p:nvPr/>
          </p:nvSpPr>
          <p:spPr>
            <a:xfrm>
              <a:off x="6659118" y="3793808"/>
              <a:ext cx="4400093"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Same inputs, circuit and readout policy.</a:t>
              </a:r>
            </a:p>
          </p:txBody>
        </p:sp>
        <p:sp>
          <p:nvSpPr>
            <p:cNvPr id="17" name="TextBox 17"/>
            <p:cNvSpPr txBox="1"/>
            <p:nvPr/>
          </p:nvSpPr>
          <p:spPr>
            <a:xfrm>
              <a:off x="6659118" y="4174808"/>
              <a:ext cx="4533368"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Select on validation; freeze before test.</a:t>
              </a:r>
            </a:p>
          </p:txBody>
        </p:sp>
      </p:grpSp>
      <p:grpSp>
        <p:nvGrpSpPr>
          <p:cNvPr id="23" name="Group 23"/>
          <p:cNvGrpSpPr/>
          <p:nvPr/>
        </p:nvGrpSpPr>
        <p:grpSpPr>
          <a:xfrm>
            <a:off x="798957" y="4867275"/>
            <a:ext cx="10545318" cy="1201864"/>
            <a:chOff x="798957" y="4867275"/>
            <a:chExt cx="10545318" cy="1201864"/>
          </a:xfrm>
        </p:grpSpPr>
        <p:sp>
          <p:nvSpPr>
            <p:cNvPr id="19" name="Freeform 19"/>
            <p:cNvSpPr/>
            <p:nvPr/>
          </p:nvSpPr>
          <p:spPr>
            <a:xfrm>
              <a:off x="809625" y="4867275"/>
              <a:ext cx="10534650" cy="28575"/>
            </a:xfrm>
            <a:custGeom>
              <a:avLst/>
              <a:gdLst/>
              <a:ahLst/>
              <a:cxnLst/>
              <a:rect l="l" t="t" r="r" b="b"/>
              <a:pathLst>
                <a:path w="10534650" h="28575">
                  <a:moveTo>
                    <a:pt x="0" y="28575"/>
                  </a:moveTo>
                  <a:lnTo>
                    <a:pt x="10534650" y="0"/>
                  </a:lnTo>
                </a:path>
              </a:pathLst>
            </a:custGeom>
            <a:noFill/>
            <a:ln w="19050">
              <a:solidFill>
                <a:schemeClr val="accent5"/>
              </a:solidFill>
            </a:ln>
          </p:spPr>
        </p:sp>
        <p:sp>
          <p:nvSpPr>
            <p:cNvPr id="20" name="TextBox 20"/>
            <p:cNvSpPr txBox="1"/>
            <p:nvPr/>
          </p:nvSpPr>
          <p:spPr>
            <a:xfrm>
              <a:off x="798957" y="5012055"/>
              <a:ext cx="8411493"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Primary: normalized WIS ↓ · skill = 1 − WIS(system) / WIS(B)</a:t>
              </a:r>
            </a:p>
          </p:txBody>
        </p:sp>
        <p:sp>
          <p:nvSpPr>
            <p:cNvPr id="21" name="TextBox 21"/>
            <p:cNvSpPr txBox="1"/>
            <p:nvPr/>
          </p:nvSpPr>
          <p:spPr>
            <a:xfrm>
              <a:off x="801243" y="5394008"/>
              <a:ext cx="7956215"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Calibration: 90% coverage + normalized width · Cost: runtime + peak RAM</a:t>
              </a:r>
            </a:p>
          </p:txBody>
        </p:sp>
        <p:sp>
          <p:nvSpPr>
            <p:cNvPr id="22" name="TextBox 22"/>
            <p:cNvSpPr txBox="1"/>
            <p:nvPr/>
          </p:nvSpPr>
          <p:spPr>
            <a:xfrm>
              <a:off x="801243" y="5746432"/>
              <a:ext cx="8434894"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GO: lower 95% CI of skill &gt;2%; 90% coverage in 85–95%; resource gates pass.</a:t>
              </a:r>
            </a:p>
          </p:txBody>
        </p:sp>
      </p:grpSp>
      <p:grpSp>
        <p:nvGrpSpPr>
          <p:cNvPr id="26" name="Group 26"/>
          <p:cNvGrpSpPr/>
          <p:nvPr/>
        </p:nvGrpSpPr>
        <p:grpSpPr>
          <a:xfrm>
            <a:off x="755904" y="6204585"/>
            <a:ext cx="10632567" cy="234696"/>
            <a:chOff x="755904" y="6204585"/>
            <a:chExt cx="10632567" cy="234696"/>
          </a:xfrm>
        </p:grpSpPr>
        <p:sp>
          <p:nvSpPr>
            <p:cNvPr id="24" name="TextBox 24"/>
            <p:cNvSpPr txBox="1"/>
            <p:nvPr/>
          </p:nvSpPr>
          <p:spPr>
            <a:xfrm>
              <a:off x="755904" y="6204585"/>
              <a:ext cx="8838738"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Source: approved protocol · B selected on validation · Paired day-block bootstrap · Criteria, not model results</a:t>
              </a:r>
            </a:p>
          </p:txBody>
        </p:sp>
        <p:sp>
          <p:nvSpPr>
            <p:cNvPr id="25" name="TextBox 25"/>
            <p:cNvSpPr txBox="1"/>
            <p:nvPr/>
          </p:nvSpPr>
          <p:spPr>
            <a:xfrm>
              <a:off x="10835107" y="620458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9305208" cy="1087755"/>
            <a:chOff x="742950" y="717232"/>
            <a:chExt cx="9305208" cy="1087755"/>
          </a:xfrm>
        </p:grpSpPr>
        <p:sp>
          <p:nvSpPr>
            <p:cNvPr id="3" name="TextBox 3"/>
            <p:cNvSpPr txBox="1"/>
            <p:nvPr/>
          </p:nvSpPr>
          <p:spPr>
            <a:xfrm>
              <a:off x="753618" y="717232"/>
              <a:ext cx="266882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06 / THE DATA CONTRACT</a:t>
              </a:r>
            </a:p>
          </p:txBody>
        </p:sp>
        <p:sp>
          <p:nvSpPr>
            <p:cNvPr id="4" name="TextBox 4"/>
            <p:cNvSpPr txBox="1"/>
            <p:nvPr/>
          </p:nvSpPr>
          <p:spPr>
            <a:xfrm>
              <a:off x="742950" y="1071562"/>
              <a:ext cx="9305208"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One site, three chronological years</a:t>
              </a:r>
            </a:p>
          </p:txBody>
        </p:sp>
      </p:grpSp>
      <p:grpSp>
        <p:nvGrpSpPr>
          <p:cNvPr id="10" name="Group 10"/>
          <p:cNvGrpSpPr/>
          <p:nvPr/>
        </p:nvGrpSpPr>
        <p:grpSpPr>
          <a:xfrm>
            <a:off x="801243" y="1764982"/>
            <a:ext cx="10496180" cy="722757"/>
            <a:chOff x="801243" y="1764982"/>
            <a:chExt cx="10496180" cy="722757"/>
          </a:xfrm>
        </p:grpSpPr>
        <p:sp>
          <p:nvSpPr>
            <p:cNvPr id="6" name="TextBox 6"/>
            <p:cNvSpPr txBox="1"/>
            <p:nvPr/>
          </p:nvSpPr>
          <p:spPr>
            <a:xfrm>
              <a:off x="801243" y="1764982"/>
              <a:ext cx="10496180"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NIST Roof · 75 kW AC metadata · Power + irradiance + temperature · 1-min source → 5-min means</a:t>
              </a:r>
            </a:p>
          </p:txBody>
        </p:sp>
        <p:sp>
          <p:nvSpPr>
            <p:cNvPr id="7" name="TextBox 7"/>
            <p:cNvSpPr txBox="1"/>
            <p:nvPr/>
          </p:nvSpPr>
          <p:spPr>
            <a:xfrm>
              <a:off x="801243" y="2165032"/>
              <a:ext cx="2345535" cy="322707"/>
            </a:xfrm>
            <a:prstGeom prst="rect">
              <a:avLst/>
            </a:prstGeom>
            <a:noFill/>
            <a:ln>
              <a:noFill/>
            </a:ln>
          </p:spPr>
          <p:txBody>
            <a:bodyPr wrap="none" lIns="0" tIns="0" rIns="0" bIns="0" anchor="t" anchorCtr="0">
              <a:spAutoFit/>
            </a:bodyPr>
            <a:lstStyle/>
            <a:p>
              <a:pPr algn="l"/>
              <a:r>
                <a:rPr lang="en-US" sz="1650" b="1" dirty="0">
                  <a:solidFill>
                    <a:schemeClr val="accent5"/>
                  </a:solidFill>
                  <a:latin typeface="+mn-lt"/>
                  <a:ea typeface="+mn-ea"/>
                  <a:cs typeface="+mn-cs"/>
                </a:rPr>
                <a:t>2015 TRAIN · 51,405</a:t>
              </a:r>
            </a:p>
          </p:txBody>
        </p:sp>
        <p:sp>
          <p:nvSpPr>
            <p:cNvPr id="8" name="TextBox 8"/>
            <p:cNvSpPr txBox="1"/>
            <p:nvPr/>
          </p:nvSpPr>
          <p:spPr>
            <a:xfrm>
              <a:off x="4468368" y="2165032"/>
              <a:ext cx="3010898" cy="322707"/>
            </a:xfrm>
            <a:prstGeom prst="rect">
              <a:avLst/>
            </a:prstGeom>
            <a:noFill/>
            <a:ln>
              <a:noFill/>
            </a:ln>
          </p:spPr>
          <p:txBody>
            <a:bodyPr wrap="none" lIns="0" tIns="0" rIns="0" bIns="0" anchor="t" anchorCtr="0">
              <a:spAutoFit/>
            </a:bodyPr>
            <a:lstStyle/>
            <a:p>
              <a:pPr algn="l"/>
              <a:r>
                <a:rPr lang="en-US" sz="1650" b="1" dirty="0">
                  <a:solidFill>
                    <a:schemeClr val="accent5"/>
                  </a:solidFill>
                  <a:latin typeface="+mn-lt"/>
                  <a:ea typeface="+mn-ea"/>
                  <a:cs typeface="+mn-cs"/>
                </a:rPr>
                <a:t>2016 VALIDATION · 47,487</a:t>
              </a:r>
            </a:p>
          </p:txBody>
        </p:sp>
        <p:sp>
          <p:nvSpPr>
            <p:cNvPr id="9" name="TextBox 9"/>
            <p:cNvSpPr txBox="1"/>
            <p:nvPr/>
          </p:nvSpPr>
          <p:spPr>
            <a:xfrm>
              <a:off x="8678418" y="2165032"/>
              <a:ext cx="2271606" cy="322707"/>
            </a:xfrm>
            <a:prstGeom prst="rect">
              <a:avLst/>
            </a:prstGeom>
            <a:noFill/>
            <a:ln>
              <a:noFill/>
            </a:ln>
          </p:spPr>
          <p:txBody>
            <a:bodyPr wrap="none" lIns="0" tIns="0" rIns="0" bIns="0" anchor="t" anchorCtr="0">
              <a:spAutoFit/>
            </a:bodyPr>
            <a:lstStyle/>
            <a:p>
              <a:pPr algn="l"/>
              <a:r>
                <a:rPr lang="en-US" sz="1650" b="1" dirty="0">
                  <a:solidFill>
                    <a:schemeClr val="accent6"/>
                  </a:solidFill>
                  <a:latin typeface="+mn-lt"/>
                  <a:ea typeface="+mn-ea"/>
                  <a:cs typeface="+mn-cs"/>
                </a:rPr>
                <a:t>2017 TEST · 43,806</a:t>
              </a:r>
            </a:p>
          </p:txBody>
        </p:sp>
      </p:grpSp>
      <p:grpSp>
        <p:nvGrpSpPr>
          <p:cNvPr id="13" name="Group 13"/>
          <p:cNvGrpSpPr/>
          <p:nvPr/>
        </p:nvGrpSpPr>
        <p:grpSpPr>
          <a:xfrm>
            <a:off x="767970" y="2533650"/>
            <a:ext cx="10656060" cy="3621215"/>
            <a:chOff x="767970" y="2533650"/>
            <a:chExt cx="10656060" cy="3621215"/>
          </a:xfrm>
        </p:grpSpPr>
        <p:pic>
          <p:nvPicPr>
            <p:cNvPr id="11" name="Image 11"/>
            <p:cNvPicPr>
              <a:picLocks noChangeAspect="1"/>
            </p:cNvPicPr>
            <p:nvPr/>
          </p:nvPicPr>
          <p:blipFill>
            <a:blip r:embed="rId2"/>
            <a:stretch>
              <a:fillRect/>
            </a:stretch>
          </p:blipFill>
          <p:spPr>
            <a:xfrm>
              <a:off x="767970" y="2533650"/>
              <a:ext cx="10656060" cy="3217631"/>
            </a:xfrm>
            <a:prstGeom prst="rect">
              <a:avLst/>
            </a:prstGeom>
          </p:spPr>
        </p:pic>
        <p:sp>
          <p:nvSpPr>
            <p:cNvPr id="12" name="TextBox 12"/>
            <p:cNvSpPr txBox="1"/>
            <p:nvPr/>
          </p:nvSpPr>
          <p:spPr>
            <a:xfrm>
              <a:off x="801243" y="5832158"/>
              <a:ext cx="8791037"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Observed train example, not a forecast · Target mean (12:10,12:15]: 51.71 kW</a:t>
              </a:r>
            </a:p>
          </p:txBody>
        </p:sp>
      </p:grpSp>
      <p:grpSp>
        <p:nvGrpSpPr>
          <p:cNvPr id="16" name="Group 16"/>
          <p:cNvGrpSpPr/>
          <p:nvPr/>
        </p:nvGrpSpPr>
        <p:grpSpPr>
          <a:xfrm>
            <a:off x="755904" y="6242685"/>
            <a:ext cx="10632567" cy="234696"/>
            <a:chOff x="755904" y="6242685"/>
            <a:chExt cx="10632567" cy="234696"/>
          </a:xfrm>
        </p:grpSpPr>
        <p:sp>
          <p:nvSpPr>
            <p:cNvPr id="14" name="TextBox 14"/>
            <p:cNvSpPr txBox="1"/>
            <p:nvPr/>
          </p:nvSpPr>
          <p:spPr>
            <a:xfrm>
              <a:off x="755904" y="6242685"/>
              <a:ext cx="7975306"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NIST canonical training data · No interpolation · Zero delay is an offline assumption · Fixed EST → UTC</a:t>
              </a:r>
            </a:p>
          </p:txBody>
        </p:sp>
        <p:sp>
          <p:nvSpPr>
            <p:cNvPr id="15" name="TextBox 15"/>
            <p:cNvSpPr txBox="1"/>
            <p:nvPr/>
          </p:nvSpPr>
          <p:spPr>
            <a:xfrm>
              <a:off x="10835107" y="624268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8165116" cy="1087755"/>
            <a:chOff x="742950" y="717232"/>
            <a:chExt cx="8165116" cy="1087755"/>
          </a:xfrm>
        </p:grpSpPr>
        <p:sp>
          <p:nvSpPr>
            <p:cNvPr id="3" name="TextBox 3"/>
            <p:cNvSpPr txBox="1"/>
            <p:nvPr/>
          </p:nvSpPr>
          <p:spPr>
            <a:xfrm>
              <a:off x="753618" y="717232"/>
              <a:ext cx="266882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07 / MEASURED EVIDENCE</a:t>
              </a:r>
            </a:p>
          </p:txBody>
        </p:sp>
        <p:sp>
          <p:nvSpPr>
            <p:cNvPr id="4" name="TextBox 4"/>
            <p:cNvSpPr txBox="1"/>
            <p:nvPr/>
          </p:nvSpPr>
          <p:spPr>
            <a:xfrm>
              <a:off x="742950" y="1071562"/>
              <a:ext cx="8165116"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Data readiness passed its audit</a:t>
              </a:r>
            </a:p>
          </p:txBody>
        </p:sp>
      </p:grpSp>
      <p:grpSp>
        <p:nvGrpSpPr>
          <p:cNvPr id="32" name="Group 32"/>
          <p:cNvGrpSpPr/>
          <p:nvPr/>
        </p:nvGrpSpPr>
        <p:grpSpPr>
          <a:xfrm>
            <a:off x="782498" y="1888808"/>
            <a:ext cx="7313752" cy="3866007"/>
            <a:chOff x="782498" y="1888808"/>
            <a:chExt cx="7313752" cy="3866007"/>
          </a:xfrm>
        </p:grpSpPr>
        <p:sp>
          <p:nvSpPr>
            <p:cNvPr id="6" name="Rectangle 6"/>
            <p:cNvSpPr/>
            <p:nvPr/>
          </p:nvSpPr>
          <p:spPr>
            <a:xfrm>
              <a:off x="1533525" y="1895475"/>
              <a:ext cx="190500" cy="190500"/>
            </a:xfrm>
            <a:prstGeom prst="rect">
              <a:avLst/>
            </a:prstGeom>
            <a:solidFill>
              <a:schemeClr val="lt2"/>
            </a:solidFill>
            <a:ln>
              <a:noFill/>
            </a:ln>
          </p:spPr>
        </p:sp>
        <p:sp>
          <p:nvSpPr>
            <p:cNvPr id="7" name="TextBox 7"/>
            <p:cNvSpPr txBox="1"/>
            <p:nvPr/>
          </p:nvSpPr>
          <p:spPr>
            <a:xfrm>
              <a:off x="1820418" y="1888808"/>
              <a:ext cx="1944525"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Canonical daylight</a:t>
              </a:r>
            </a:p>
          </p:txBody>
        </p:sp>
        <p:sp>
          <p:nvSpPr>
            <p:cNvPr id="8" name="Rectangle 8"/>
            <p:cNvSpPr/>
            <p:nvPr/>
          </p:nvSpPr>
          <p:spPr>
            <a:xfrm>
              <a:off x="4600575" y="1895475"/>
              <a:ext cx="190500" cy="190500"/>
            </a:xfrm>
            <a:prstGeom prst="rect">
              <a:avLst/>
            </a:prstGeom>
            <a:solidFill>
              <a:schemeClr val="accent5"/>
            </a:solidFill>
            <a:ln>
              <a:noFill/>
            </a:ln>
          </p:spPr>
        </p:sp>
        <p:sp>
          <p:nvSpPr>
            <p:cNvPr id="9" name="TextBox 9"/>
            <p:cNvSpPr txBox="1"/>
            <p:nvPr/>
          </p:nvSpPr>
          <p:spPr>
            <a:xfrm>
              <a:off x="4887468" y="1888808"/>
              <a:ext cx="1688973"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Eligible samples</a:t>
              </a:r>
            </a:p>
          </p:txBody>
        </p:sp>
        <p:grpSp>
          <p:nvGrpSpPr>
            <p:cNvPr id="19" name="Group 19"/>
            <p:cNvGrpSpPr/>
            <p:nvPr/>
          </p:nvGrpSpPr>
          <p:grpSpPr>
            <a:xfrm>
              <a:off x="1524000" y="2381250"/>
              <a:ext cx="6572250" cy="2867025"/>
              <a:chOff x="1524000" y="2381250"/>
              <a:chExt cx="6572250" cy="2867025"/>
            </a:xfrm>
          </p:grpSpPr>
          <p:sp>
            <p:nvSpPr>
              <p:cNvPr id="10" name="Line 10"/>
              <p:cNvSpPr/>
              <p:nvPr/>
            </p:nvSpPr>
            <p:spPr>
              <a:xfrm>
                <a:off x="1524000" y="5238750"/>
                <a:ext cx="6572250" cy="9525"/>
              </a:xfrm>
              <a:custGeom>
                <a:avLst/>
                <a:gdLst/>
                <a:ahLst/>
                <a:cxnLst/>
                <a:rect l="l" t="t" r="r" b="b"/>
                <a:pathLst>
                  <a:path w="6572250" h="9525">
                    <a:moveTo>
                      <a:pt x="0" y="0"/>
                    </a:moveTo>
                    <a:lnTo>
                      <a:pt x="6572250" y="0"/>
                    </a:lnTo>
                  </a:path>
                </a:pathLst>
              </a:custGeom>
              <a:noFill/>
              <a:ln w="14288">
                <a:solidFill>
                  <a:srgbClr val="E7EDF4"/>
                </a:solidFill>
              </a:ln>
            </p:spPr>
          </p:sp>
          <p:sp>
            <p:nvSpPr>
              <p:cNvPr id="11" name="Line 11"/>
              <p:cNvSpPr/>
              <p:nvPr/>
            </p:nvSpPr>
            <p:spPr>
              <a:xfrm>
                <a:off x="1524000" y="3810000"/>
                <a:ext cx="6572250" cy="9525"/>
              </a:xfrm>
              <a:custGeom>
                <a:avLst/>
                <a:gdLst/>
                <a:ahLst/>
                <a:cxnLst/>
                <a:rect l="l" t="t" r="r" b="b"/>
                <a:pathLst>
                  <a:path w="6572250" h="9525">
                    <a:moveTo>
                      <a:pt x="0" y="0"/>
                    </a:moveTo>
                    <a:lnTo>
                      <a:pt x="6572250" y="0"/>
                    </a:lnTo>
                  </a:path>
                </a:pathLst>
              </a:custGeom>
              <a:noFill/>
              <a:ln w="9525">
                <a:solidFill>
                  <a:srgbClr val="E7EDF4">
                    <a:alpha val="25000"/>
                  </a:srgbClr>
                </a:solidFill>
              </a:ln>
            </p:spPr>
          </p:sp>
          <p:sp>
            <p:nvSpPr>
              <p:cNvPr id="12" name="Line 12"/>
              <p:cNvSpPr/>
              <p:nvPr/>
            </p:nvSpPr>
            <p:spPr>
              <a:xfrm>
                <a:off x="1524000" y="2381250"/>
                <a:ext cx="6572250" cy="9525"/>
              </a:xfrm>
              <a:custGeom>
                <a:avLst/>
                <a:gdLst/>
                <a:ahLst/>
                <a:cxnLst/>
                <a:rect l="l" t="t" r="r" b="b"/>
                <a:pathLst>
                  <a:path w="6572250" h="9525">
                    <a:moveTo>
                      <a:pt x="0" y="0"/>
                    </a:moveTo>
                    <a:lnTo>
                      <a:pt x="6572250" y="0"/>
                    </a:lnTo>
                  </a:path>
                </a:pathLst>
              </a:custGeom>
              <a:noFill/>
              <a:ln w="9525">
                <a:solidFill>
                  <a:srgbClr val="E7EDF4">
                    <a:alpha val="25000"/>
                  </a:srgbClr>
                </a:solidFill>
              </a:ln>
            </p:spPr>
          </p:sp>
          <p:sp>
            <p:nvSpPr>
              <p:cNvPr id="13" name="Rectangle 13"/>
              <p:cNvSpPr/>
              <p:nvPr/>
            </p:nvSpPr>
            <p:spPr>
              <a:xfrm>
                <a:off x="1914525" y="2413511"/>
                <a:ext cx="457200" cy="2825239"/>
              </a:xfrm>
              <a:prstGeom prst="rect">
                <a:avLst/>
              </a:prstGeom>
              <a:solidFill>
                <a:schemeClr val="lt2"/>
              </a:solidFill>
              <a:ln>
                <a:noFill/>
              </a:ln>
            </p:spPr>
          </p:sp>
          <p:sp>
            <p:nvSpPr>
              <p:cNvPr id="14" name="Rectangle 14"/>
              <p:cNvSpPr/>
              <p:nvPr/>
            </p:nvSpPr>
            <p:spPr>
              <a:xfrm>
                <a:off x="2543175" y="2479377"/>
                <a:ext cx="457200" cy="2759373"/>
              </a:xfrm>
              <a:prstGeom prst="rect">
                <a:avLst/>
              </a:prstGeom>
              <a:solidFill>
                <a:schemeClr val="accent5"/>
              </a:solidFill>
              <a:ln>
                <a:noFill/>
              </a:ln>
            </p:spPr>
          </p:sp>
          <p:sp>
            <p:nvSpPr>
              <p:cNvPr id="15" name="Rectangle 15"/>
              <p:cNvSpPr/>
              <p:nvPr/>
            </p:nvSpPr>
            <p:spPr>
              <a:xfrm>
                <a:off x="4105275" y="2457640"/>
                <a:ext cx="457200" cy="2781110"/>
              </a:xfrm>
              <a:prstGeom prst="rect">
                <a:avLst/>
              </a:prstGeom>
              <a:solidFill>
                <a:schemeClr val="lt2"/>
              </a:solidFill>
              <a:ln>
                <a:noFill/>
              </a:ln>
            </p:spPr>
          </p:sp>
          <p:sp>
            <p:nvSpPr>
              <p:cNvPr id="16" name="Rectangle 16"/>
              <p:cNvSpPr/>
              <p:nvPr/>
            </p:nvSpPr>
            <p:spPr>
              <a:xfrm>
                <a:off x="4733925" y="2694899"/>
                <a:ext cx="457200" cy="2543851"/>
              </a:xfrm>
              <a:prstGeom prst="rect">
                <a:avLst/>
              </a:prstGeom>
              <a:solidFill>
                <a:schemeClr val="accent5"/>
              </a:solidFill>
              <a:ln>
                <a:noFill/>
              </a:ln>
            </p:spPr>
          </p:sp>
          <p:sp>
            <p:nvSpPr>
              <p:cNvPr id="17" name="Rectangle 17"/>
              <p:cNvSpPr/>
              <p:nvPr/>
            </p:nvSpPr>
            <p:spPr>
              <a:xfrm>
                <a:off x="6296025" y="2450506"/>
                <a:ext cx="457200" cy="2788244"/>
              </a:xfrm>
              <a:prstGeom prst="rect">
                <a:avLst/>
              </a:prstGeom>
              <a:solidFill>
                <a:schemeClr val="lt2"/>
              </a:solidFill>
              <a:ln>
                <a:noFill/>
              </a:ln>
            </p:spPr>
          </p:sp>
          <p:sp>
            <p:nvSpPr>
              <p:cNvPr id="18" name="Rectangle 18"/>
              <p:cNvSpPr/>
              <p:nvPr/>
            </p:nvSpPr>
            <p:spPr>
              <a:xfrm>
                <a:off x="6924675" y="2886932"/>
                <a:ext cx="457200" cy="2351818"/>
              </a:xfrm>
              <a:prstGeom prst="rect">
                <a:avLst/>
              </a:prstGeom>
              <a:solidFill>
                <a:schemeClr val="accent5"/>
              </a:solidFill>
              <a:ln>
                <a:noFill/>
              </a:ln>
            </p:spPr>
          </p:sp>
        </p:grpSp>
        <p:sp>
          <p:nvSpPr>
            <p:cNvPr id="20" name="TextBox 20"/>
            <p:cNvSpPr txBox="1"/>
            <p:nvPr/>
          </p:nvSpPr>
          <p:spPr>
            <a:xfrm>
              <a:off x="1026833" y="5146358"/>
              <a:ext cx="305524" cy="322707"/>
            </a:xfrm>
            <a:prstGeom prst="rect">
              <a:avLst/>
            </a:prstGeom>
            <a:noFill/>
            <a:ln>
              <a:noFill/>
            </a:ln>
          </p:spPr>
          <p:txBody>
            <a:bodyPr wrap="none" lIns="0" tIns="0" rIns="0" bIns="0" anchor="t" anchorCtr="0">
              <a:spAutoFit/>
            </a:bodyPr>
            <a:lstStyle/>
            <a:p>
              <a:pPr algn="r"/>
              <a:r>
                <a:rPr lang="en-US" sz="1650" dirty="0">
                  <a:solidFill>
                    <a:srgbClr val="E7EDF4"/>
                  </a:solidFill>
                  <a:latin typeface="+mn-lt"/>
                  <a:ea typeface="+mn-ea"/>
                  <a:cs typeface="+mn-cs"/>
                </a:rPr>
                <a:t>0%</a:t>
              </a:r>
            </a:p>
          </p:txBody>
        </p:sp>
        <p:sp>
          <p:nvSpPr>
            <p:cNvPr id="21" name="TextBox 21"/>
            <p:cNvSpPr txBox="1"/>
            <p:nvPr/>
          </p:nvSpPr>
          <p:spPr>
            <a:xfrm>
              <a:off x="904665" y="3717608"/>
              <a:ext cx="427692" cy="322707"/>
            </a:xfrm>
            <a:prstGeom prst="rect">
              <a:avLst/>
            </a:prstGeom>
            <a:noFill/>
            <a:ln>
              <a:noFill/>
            </a:ln>
          </p:spPr>
          <p:txBody>
            <a:bodyPr wrap="none" lIns="0" tIns="0" rIns="0" bIns="0" anchor="t" anchorCtr="0">
              <a:spAutoFit/>
            </a:bodyPr>
            <a:lstStyle/>
            <a:p>
              <a:pPr algn="r"/>
              <a:r>
                <a:rPr lang="en-US" sz="1650" dirty="0">
                  <a:solidFill>
                    <a:srgbClr val="E7EDF4"/>
                  </a:solidFill>
                  <a:latin typeface="+mn-lt"/>
                  <a:ea typeface="+mn-ea"/>
                  <a:cs typeface="+mn-cs"/>
                </a:rPr>
                <a:t>50%</a:t>
              </a:r>
            </a:p>
          </p:txBody>
        </p:sp>
        <p:sp>
          <p:nvSpPr>
            <p:cNvPr id="22" name="TextBox 22"/>
            <p:cNvSpPr txBox="1"/>
            <p:nvPr/>
          </p:nvSpPr>
          <p:spPr>
            <a:xfrm>
              <a:off x="782498" y="2288858"/>
              <a:ext cx="549859" cy="322707"/>
            </a:xfrm>
            <a:prstGeom prst="rect">
              <a:avLst/>
            </a:prstGeom>
            <a:noFill/>
            <a:ln>
              <a:noFill/>
            </a:ln>
          </p:spPr>
          <p:txBody>
            <a:bodyPr wrap="none" lIns="0" tIns="0" rIns="0" bIns="0" anchor="t" anchorCtr="0">
              <a:spAutoFit/>
            </a:bodyPr>
            <a:lstStyle/>
            <a:p>
              <a:pPr algn="r"/>
              <a:r>
                <a:rPr lang="en-US" sz="1650" dirty="0">
                  <a:solidFill>
                    <a:srgbClr val="E7EDF4"/>
                  </a:solidFill>
                  <a:latin typeface="+mn-lt"/>
                  <a:ea typeface="+mn-ea"/>
                  <a:cs typeface="+mn-cs"/>
                </a:rPr>
                <a:t>100%</a:t>
              </a:r>
            </a:p>
          </p:txBody>
        </p:sp>
        <p:sp>
          <p:nvSpPr>
            <p:cNvPr id="23" name="TextBox 23"/>
            <p:cNvSpPr txBox="1"/>
            <p:nvPr/>
          </p:nvSpPr>
          <p:spPr>
            <a:xfrm>
              <a:off x="1890408" y="2126932"/>
              <a:ext cx="505435" cy="322707"/>
            </a:xfrm>
            <a:prstGeom prst="rect">
              <a:avLst/>
            </a:prstGeom>
            <a:noFill/>
            <a:ln>
              <a:noFill/>
            </a:ln>
          </p:spPr>
          <p:txBody>
            <a:bodyPr wrap="none" lIns="0" tIns="0" rIns="0" bIns="0" anchor="t" anchorCtr="0">
              <a:spAutoFit/>
            </a:bodyPr>
            <a:lstStyle/>
            <a:p>
              <a:pPr algn="ctr"/>
              <a:r>
                <a:rPr lang="en-US" sz="1650" dirty="0">
                  <a:solidFill>
                    <a:srgbClr val="E7EDF4"/>
                  </a:solidFill>
                  <a:latin typeface="+mn-lt"/>
                  <a:ea typeface="+mn-ea"/>
                  <a:cs typeface="+mn-cs"/>
                </a:rPr>
                <a:t>98.9</a:t>
              </a:r>
            </a:p>
          </p:txBody>
        </p:sp>
        <p:sp>
          <p:nvSpPr>
            <p:cNvPr id="24" name="TextBox 24"/>
            <p:cNvSpPr txBox="1"/>
            <p:nvPr/>
          </p:nvSpPr>
          <p:spPr>
            <a:xfrm>
              <a:off x="2519058" y="2193608"/>
              <a:ext cx="505435"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96.6</a:t>
              </a:r>
            </a:p>
          </p:txBody>
        </p:sp>
        <p:sp>
          <p:nvSpPr>
            <p:cNvPr id="25" name="TextBox 25"/>
            <p:cNvSpPr txBox="1"/>
            <p:nvPr/>
          </p:nvSpPr>
          <p:spPr>
            <a:xfrm>
              <a:off x="4081158" y="2174558"/>
              <a:ext cx="505435" cy="322707"/>
            </a:xfrm>
            <a:prstGeom prst="rect">
              <a:avLst/>
            </a:prstGeom>
            <a:noFill/>
            <a:ln>
              <a:noFill/>
            </a:ln>
          </p:spPr>
          <p:txBody>
            <a:bodyPr wrap="none" lIns="0" tIns="0" rIns="0" bIns="0" anchor="t" anchorCtr="0">
              <a:spAutoFit/>
            </a:bodyPr>
            <a:lstStyle/>
            <a:p>
              <a:pPr algn="ctr"/>
              <a:r>
                <a:rPr lang="en-US" sz="1650" dirty="0">
                  <a:solidFill>
                    <a:srgbClr val="E7EDF4"/>
                  </a:solidFill>
                  <a:latin typeface="+mn-lt"/>
                  <a:ea typeface="+mn-ea"/>
                  <a:cs typeface="+mn-cs"/>
                </a:rPr>
                <a:t>97.3</a:t>
              </a:r>
            </a:p>
          </p:txBody>
        </p:sp>
        <p:sp>
          <p:nvSpPr>
            <p:cNvPr id="26" name="TextBox 26"/>
            <p:cNvSpPr txBox="1"/>
            <p:nvPr/>
          </p:nvSpPr>
          <p:spPr>
            <a:xfrm>
              <a:off x="4709808" y="2412682"/>
              <a:ext cx="505435"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89.0</a:t>
              </a:r>
            </a:p>
          </p:txBody>
        </p:sp>
        <p:sp>
          <p:nvSpPr>
            <p:cNvPr id="27" name="TextBox 27"/>
            <p:cNvSpPr txBox="1"/>
            <p:nvPr/>
          </p:nvSpPr>
          <p:spPr>
            <a:xfrm>
              <a:off x="6271908" y="2165032"/>
              <a:ext cx="505435" cy="322707"/>
            </a:xfrm>
            <a:prstGeom prst="rect">
              <a:avLst/>
            </a:prstGeom>
            <a:noFill/>
            <a:ln>
              <a:noFill/>
            </a:ln>
          </p:spPr>
          <p:txBody>
            <a:bodyPr wrap="none" lIns="0" tIns="0" rIns="0" bIns="0" anchor="t" anchorCtr="0">
              <a:spAutoFit/>
            </a:bodyPr>
            <a:lstStyle/>
            <a:p>
              <a:pPr algn="ctr"/>
              <a:r>
                <a:rPr lang="en-US" sz="1650" dirty="0">
                  <a:solidFill>
                    <a:srgbClr val="E7EDF4"/>
                  </a:solidFill>
                  <a:latin typeface="+mn-lt"/>
                  <a:ea typeface="+mn-ea"/>
                  <a:cs typeface="+mn-cs"/>
                </a:rPr>
                <a:t>97.6</a:t>
              </a:r>
            </a:p>
          </p:txBody>
        </p:sp>
        <p:sp>
          <p:nvSpPr>
            <p:cNvPr id="28" name="TextBox 28"/>
            <p:cNvSpPr txBox="1"/>
            <p:nvPr/>
          </p:nvSpPr>
          <p:spPr>
            <a:xfrm>
              <a:off x="6900558" y="2603182"/>
              <a:ext cx="505435" cy="322707"/>
            </a:xfrm>
            <a:prstGeom prst="rect">
              <a:avLst/>
            </a:prstGeom>
            <a:noFill/>
            <a:ln>
              <a:noFill/>
            </a:ln>
          </p:spPr>
          <p:txBody>
            <a:bodyPr wrap="none" lIns="0" tIns="0" rIns="0" bIns="0" anchor="t" anchorCtr="0">
              <a:spAutoFit/>
            </a:bodyPr>
            <a:lstStyle/>
            <a:p>
              <a:pPr algn="ctr"/>
              <a:r>
                <a:rPr lang="en-US" sz="1650" dirty="0">
                  <a:solidFill>
                    <a:schemeClr val="accent5"/>
                  </a:solidFill>
                  <a:latin typeface="+mn-lt"/>
                  <a:ea typeface="+mn-ea"/>
                  <a:cs typeface="+mn-cs"/>
                </a:rPr>
                <a:t>82.3</a:t>
              </a:r>
            </a:p>
          </p:txBody>
        </p:sp>
        <p:sp>
          <p:nvSpPr>
            <p:cNvPr id="29" name="TextBox 29"/>
            <p:cNvSpPr txBox="1"/>
            <p:nvPr/>
          </p:nvSpPr>
          <p:spPr>
            <a:xfrm>
              <a:off x="1792003" y="5432108"/>
              <a:ext cx="1330894" cy="322707"/>
            </a:xfrm>
            <a:prstGeom prst="rect">
              <a:avLst/>
            </a:prstGeom>
            <a:noFill/>
            <a:ln>
              <a:noFill/>
            </a:ln>
          </p:spPr>
          <p:txBody>
            <a:bodyPr wrap="none" lIns="0" tIns="0" rIns="0" bIns="0" anchor="t" anchorCtr="0">
              <a:spAutoFit/>
            </a:bodyPr>
            <a:lstStyle/>
            <a:p>
              <a:pPr algn="ctr"/>
              <a:r>
                <a:rPr lang="en-US" sz="1650" dirty="0">
                  <a:solidFill>
                    <a:srgbClr val="F7F9FC"/>
                  </a:solidFill>
                  <a:latin typeface="+mn-lt"/>
                  <a:ea typeface="+mn-ea"/>
                  <a:cs typeface="+mn-cs"/>
                </a:rPr>
                <a:t>Train / 2015</a:t>
              </a:r>
            </a:p>
          </p:txBody>
        </p:sp>
        <p:sp>
          <p:nvSpPr>
            <p:cNvPr id="30" name="TextBox 30"/>
            <p:cNvSpPr txBox="1"/>
            <p:nvPr/>
          </p:nvSpPr>
          <p:spPr>
            <a:xfrm>
              <a:off x="3735128" y="5432108"/>
              <a:ext cx="1826144" cy="322707"/>
            </a:xfrm>
            <a:prstGeom prst="rect">
              <a:avLst/>
            </a:prstGeom>
            <a:noFill/>
            <a:ln>
              <a:noFill/>
            </a:ln>
          </p:spPr>
          <p:txBody>
            <a:bodyPr wrap="none" lIns="0" tIns="0" rIns="0" bIns="0" anchor="t" anchorCtr="0">
              <a:spAutoFit/>
            </a:bodyPr>
            <a:lstStyle/>
            <a:p>
              <a:pPr algn="ctr"/>
              <a:r>
                <a:rPr lang="en-US" sz="1650" dirty="0">
                  <a:solidFill>
                    <a:srgbClr val="F7F9FC"/>
                  </a:solidFill>
                  <a:latin typeface="+mn-lt"/>
                  <a:ea typeface="+mn-ea"/>
                  <a:cs typeface="+mn-cs"/>
                </a:rPr>
                <a:t>Validation / 2016</a:t>
              </a:r>
            </a:p>
          </p:txBody>
        </p:sp>
        <p:sp>
          <p:nvSpPr>
            <p:cNvPr id="31" name="TextBox 31"/>
            <p:cNvSpPr txBox="1"/>
            <p:nvPr/>
          </p:nvSpPr>
          <p:spPr>
            <a:xfrm>
              <a:off x="6205454" y="5432108"/>
              <a:ext cx="1266992" cy="322707"/>
            </a:xfrm>
            <a:prstGeom prst="rect">
              <a:avLst/>
            </a:prstGeom>
            <a:noFill/>
            <a:ln>
              <a:noFill/>
            </a:ln>
          </p:spPr>
          <p:txBody>
            <a:bodyPr wrap="none" lIns="0" tIns="0" rIns="0" bIns="0" anchor="t" anchorCtr="0">
              <a:spAutoFit/>
            </a:bodyPr>
            <a:lstStyle/>
            <a:p>
              <a:pPr algn="ctr"/>
              <a:r>
                <a:rPr lang="en-US" sz="1650" dirty="0">
                  <a:solidFill>
                    <a:srgbClr val="F7F9FC"/>
                  </a:solidFill>
                  <a:latin typeface="+mn-lt"/>
                  <a:ea typeface="+mn-ea"/>
                  <a:cs typeface="+mn-cs"/>
                </a:rPr>
                <a:t>Test / 2017</a:t>
              </a:r>
            </a:p>
          </p:txBody>
        </p:sp>
      </p:grpSp>
      <p:grpSp>
        <p:nvGrpSpPr>
          <p:cNvPr id="40" name="Group 40"/>
          <p:cNvGrpSpPr/>
          <p:nvPr/>
        </p:nvGrpSpPr>
        <p:grpSpPr>
          <a:xfrm>
            <a:off x="8982075" y="2126932"/>
            <a:ext cx="2151431" cy="3553016"/>
            <a:chOff x="8982075" y="2126932"/>
            <a:chExt cx="2151431" cy="3553016"/>
          </a:xfrm>
        </p:grpSpPr>
        <p:sp>
          <p:nvSpPr>
            <p:cNvPr id="33" name="TextBox 33"/>
            <p:cNvSpPr txBox="1"/>
            <p:nvPr/>
          </p:nvSpPr>
          <p:spPr>
            <a:xfrm>
              <a:off x="8992743" y="2126932"/>
              <a:ext cx="2140763"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2017 TEST SUPPORT</a:t>
              </a:r>
            </a:p>
          </p:txBody>
        </p:sp>
        <p:sp>
          <p:nvSpPr>
            <p:cNvPr id="34" name="TextBox 34"/>
            <p:cNvSpPr txBox="1"/>
            <p:nvPr/>
          </p:nvSpPr>
          <p:spPr>
            <a:xfrm>
              <a:off x="8982075" y="2568892"/>
              <a:ext cx="1052647" cy="847725"/>
            </a:xfrm>
            <a:prstGeom prst="rect">
              <a:avLst/>
            </a:prstGeom>
            <a:noFill/>
            <a:ln>
              <a:noFill/>
            </a:ln>
          </p:spPr>
          <p:txBody>
            <a:bodyPr wrap="none" lIns="0" tIns="0" rIns="0" bIns="0" anchor="t" anchorCtr="0">
              <a:spAutoFit/>
            </a:bodyPr>
            <a:lstStyle/>
            <a:p>
              <a:pPr algn="l"/>
              <a:r>
                <a:rPr lang="en-US" sz="4350" b="1" dirty="0">
                  <a:solidFill>
                    <a:srgbClr val="F7F9FC"/>
                  </a:solidFill>
                  <a:latin typeface="+mn-lt"/>
                  <a:ea typeface="+mn-ea"/>
                  <a:cs typeface="+mn-cs"/>
                </a:rPr>
                <a:t>157</a:t>
              </a:r>
            </a:p>
          </p:txBody>
        </p:sp>
        <p:sp>
          <p:nvSpPr>
            <p:cNvPr id="35" name="TextBox 35"/>
            <p:cNvSpPr txBox="1"/>
            <p:nvPr/>
          </p:nvSpPr>
          <p:spPr>
            <a:xfrm>
              <a:off x="8990457" y="3192780"/>
              <a:ext cx="1590332" cy="410718"/>
            </a:xfrm>
            <a:prstGeom prst="rect">
              <a:avLst/>
            </a:prstGeom>
            <a:noFill/>
            <a:ln>
              <a:noFill/>
            </a:ln>
          </p:spPr>
          <p:txBody>
            <a:bodyPr wrap="none" lIns="0" tIns="0" rIns="0" bIns="0" anchor="t" anchorCtr="0">
              <a:spAutoFit/>
            </a:bodyPr>
            <a:lstStyle/>
            <a:p>
              <a:pPr algn="l"/>
              <a:r>
                <a:rPr lang="en-US" sz="2100" dirty="0">
                  <a:solidFill>
                    <a:srgbClr val="E7EDF4"/>
                  </a:solidFill>
                  <a:latin typeface="+mn-lt"/>
                  <a:ea typeface="+mn-ea"/>
                  <a:cs typeface="+mn-cs"/>
                </a:rPr>
                <a:t>usable days</a:t>
              </a:r>
            </a:p>
          </p:txBody>
        </p:sp>
        <p:sp>
          <p:nvSpPr>
            <p:cNvPr id="36" name="TextBox 36"/>
            <p:cNvSpPr txBox="1"/>
            <p:nvPr/>
          </p:nvSpPr>
          <p:spPr>
            <a:xfrm>
              <a:off x="8982075" y="3759518"/>
              <a:ext cx="714465" cy="847725"/>
            </a:xfrm>
            <a:prstGeom prst="rect">
              <a:avLst/>
            </a:prstGeom>
            <a:noFill/>
            <a:ln>
              <a:noFill/>
            </a:ln>
          </p:spPr>
          <p:txBody>
            <a:bodyPr wrap="none" lIns="0" tIns="0" rIns="0" bIns="0" anchor="t" anchorCtr="0">
              <a:spAutoFit/>
            </a:bodyPr>
            <a:lstStyle/>
            <a:p>
              <a:pPr algn="l"/>
              <a:r>
                <a:rPr lang="en-US" sz="4350" b="1" dirty="0">
                  <a:solidFill>
                    <a:srgbClr val="F7F9FC"/>
                  </a:solidFill>
                  <a:latin typeface="+mn-lt"/>
                  <a:ea typeface="+mn-ea"/>
                  <a:cs typeface="+mn-cs"/>
                </a:rPr>
                <a:t>35</a:t>
              </a:r>
            </a:p>
          </p:txBody>
        </p:sp>
        <p:sp>
          <p:nvSpPr>
            <p:cNvPr id="37" name="TextBox 37"/>
            <p:cNvSpPr txBox="1"/>
            <p:nvPr/>
          </p:nvSpPr>
          <p:spPr>
            <a:xfrm>
              <a:off x="8990457" y="4383405"/>
              <a:ext cx="1802359" cy="410718"/>
            </a:xfrm>
            <a:prstGeom prst="rect">
              <a:avLst/>
            </a:prstGeom>
            <a:noFill/>
            <a:ln>
              <a:noFill/>
            </a:ln>
          </p:spPr>
          <p:txBody>
            <a:bodyPr wrap="none" lIns="0" tIns="0" rIns="0" bIns="0" anchor="t" anchorCtr="0">
              <a:spAutoFit/>
            </a:bodyPr>
            <a:lstStyle/>
            <a:p>
              <a:pPr algn="l"/>
              <a:r>
                <a:rPr lang="en-US" sz="2100" dirty="0">
                  <a:solidFill>
                    <a:srgbClr val="E7EDF4"/>
                  </a:solidFill>
                  <a:latin typeface="+mn-lt"/>
                  <a:ea typeface="+mn-ea"/>
                  <a:cs typeface="+mn-cs"/>
                </a:rPr>
                <a:t>usable weeks</a:t>
              </a:r>
            </a:p>
          </p:txBody>
        </p:sp>
        <p:sp>
          <p:nvSpPr>
            <p:cNvPr id="38" name="TextBox 38"/>
            <p:cNvSpPr txBox="1"/>
            <p:nvPr/>
          </p:nvSpPr>
          <p:spPr>
            <a:xfrm>
              <a:off x="8992743" y="4803458"/>
              <a:ext cx="1738217"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non-overlapping</a:t>
              </a:r>
            </a:p>
          </p:txBody>
        </p:sp>
        <p:sp>
          <p:nvSpPr>
            <p:cNvPr id="39" name="TextBox 39"/>
            <p:cNvSpPr txBox="1"/>
            <p:nvPr/>
          </p:nvSpPr>
          <p:spPr>
            <a:xfrm>
              <a:off x="8990457" y="5269230"/>
              <a:ext cx="1762034" cy="410718"/>
            </a:xfrm>
            <a:prstGeom prst="rect">
              <a:avLst/>
            </a:prstGeom>
            <a:noFill/>
            <a:ln>
              <a:noFill/>
            </a:ln>
          </p:spPr>
          <p:txBody>
            <a:bodyPr wrap="none" lIns="0" tIns="0" rIns="0" bIns="0" anchor="t" anchorCtr="0">
              <a:spAutoFit/>
            </a:bodyPr>
            <a:lstStyle/>
            <a:p>
              <a:pPr algn="l"/>
              <a:r>
                <a:rPr lang="en-US" sz="2100" b="1" dirty="0">
                  <a:solidFill>
                    <a:schemeClr val="accent5"/>
                  </a:solidFill>
                  <a:latin typeface="+mn-lt"/>
                  <a:ea typeface="+mn-ea"/>
                  <a:cs typeface="+mn-cs"/>
                </a:rPr>
                <a:t>AUDIT: PASS</a:t>
              </a:r>
            </a:p>
          </p:txBody>
        </p:sp>
      </p:grpSp>
      <p:grpSp>
        <p:nvGrpSpPr>
          <p:cNvPr id="42" name="Group 42"/>
          <p:cNvGrpSpPr/>
          <p:nvPr/>
        </p:nvGrpSpPr>
        <p:grpSpPr>
          <a:xfrm>
            <a:off x="801243" y="5832158"/>
            <a:ext cx="9184942" cy="322707"/>
            <a:chOff x="801243" y="5832158"/>
            <a:chExt cx="9184942" cy="322707"/>
          </a:xfrm>
        </p:grpSpPr>
        <p:sp>
          <p:nvSpPr>
            <p:cNvPr id="41" name="TextBox 41"/>
            <p:cNvSpPr txBox="1"/>
            <p:nvPr/>
          </p:nvSpPr>
          <p:spPr>
            <a:xfrm>
              <a:off x="801243" y="5832158"/>
              <a:ext cx="9184942"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Gates: canonical ≥90%; eligible ≥80%. This is data availability, not forecast quality.</a:t>
              </a:r>
            </a:p>
          </p:txBody>
        </p:sp>
      </p:grpSp>
      <p:grpSp>
        <p:nvGrpSpPr>
          <p:cNvPr id="45" name="Group 45"/>
          <p:cNvGrpSpPr/>
          <p:nvPr/>
        </p:nvGrpSpPr>
        <p:grpSpPr>
          <a:xfrm>
            <a:off x="755904" y="6242685"/>
            <a:ext cx="10632567" cy="234696"/>
            <a:chOff x="755904" y="6242685"/>
            <a:chExt cx="10632567" cy="234696"/>
          </a:xfrm>
        </p:grpSpPr>
        <p:sp>
          <p:nvSpPr>
            <p:cNvPr id="43" name="TextBox 43"/>
            <p:cNvSpPr txBox="1"/>
            <p:nvPr/>
          </p:nvSpPr>
          <p:spPr>
            <a:xfrm>
              <a:off x="755904" y="6242685"/>
              <a:ext cx="7952343"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Source: authenticated NIST availability audit, 16 Oct 2026 · Day/week definitions and limits in notes</a:t>
              </a:r>
            </a:p>
          </p:txBody>
        </p:sp>
        <p:sp>
          <p:nvSpPr>
            <p:cNvPr id="44" name="TextBox 44"/>
            <p:cNvSpPr txBox="1"/>
            <p:nvPr/>
          </p:nvSpPr>
          <p:spPr>
            <a:xfrm>
              <a:off x="10835107" y="624268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9941886" cy="1087755"/>
            <a:chOff x="742950" y="717232"/>
            <a:chExt cx="9941886" cy="1087755"/>
          </a:xfrm>
        </p:grpSpPr>
        <p:sp>
          <p:nvSpPr>
            <p:cNvPr id="3" name="TextBox 3"/>
            <p:cNvSpPr txBox="1"/>
            <p:nvPr/>
          </p:nvSpPr>
          <p:spPr>
            <a:xfrm>
              <a:off x="753618" y="717232"/>
              <a:ext cx="2293315"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08 / CURRENT STATUS</a:t>
              </a:r>
            </a:p>
          </p:txBody>
        </p:sp>
        <p:sp>
          <p:nvSpPr>
            <p:cNvPr id="4" name="TextBox 4"/>
            <p:cNvSpPr txBox="1"/>
            <p:nvPr/>
          </p:nvSpPr>
          <p:spPr>
            <a:xfrm>
              <a:off x="742950" y="1071562"/>
              <a:ext cx="9941886"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Ready to test; capacity is the blocker</a:t>
              </a:r>
            </a:p>
          </p:txBody>
        </p:sp>
      </p:grpSp>
      <p:grpSp>
        <p:nvGrpSpPr>
          <p:cNvPr id="13" name="Group 13"/>
          <p:cNvGrpSpPr/>
          <p:nvPr/>
        </p:nvGrpSpPr>
        <p:grpSpPr>
          <a:xfrm>
            <a:off x="798957" y="2106930"/>
            <a:ext cx="5374160" cy="2895409"/>
            <a:chOff x="798957" y="2106930"/>
            <a:chExt cx="5374160" cy="2895409"/>
          </a:xfrm>
        </p:grpSpPr>
        <p:sp>
          <p:nvSpPr>
            <p:cNvPr id="6" name="TextBox 6"/>
            <p:cNvSpPr txBox="1"/>
            <p:nvPr/>
          </p:nvSpPr>
          <p:spPr>
            <a:xfrm>
              <a:off x="798957" y="2106930"/>
              <a:ext cx="1699306" cy="410718"/>
            </a:xfrm>
            <a:prstGeom prst="rect">
              <a:avLst/>
            </a:prstGeom>
            <a:noFill/>
            <a:ln>
              <a:noFill/>
            </a:ln>
          </p:spPr>
          <p:txBody>
            <a:bodyPr wrap="none" lIns="0" tIns="0" rIns="0" bIns="0" anchor="t" anchorCtr="0">
              <a:spAutoFit/>
            </a:bodyPr>
            <a:lstStyle/>
            <a:p>
              <a:pPr algn="l"/>
              <a:r>
                <a:rPr lang="en-US" sz="2100" b="1" dirty="0">
                  <a:solidFill>
                    <a:schemeClr val="accent5"/>
                  </a:solidFill>
                  <a:latin typeface="+mn-lt"/>
                  <a:ea typeface="+mn-ea"/>
                  <a:cs typeface="+mn-cs"/>
                </a:rPr>
                <a:t>COMPLETED</a:t>
              </a:r>
            </a:p>
          </p:txBody>
        </p:sp>
        <p:sp>
          <p:nvSpPr>
            <p:cNvPr id="7" name="TextBox 7"/>
            <p:cNvSpPr txBox="1"/>
            <p:nvPr/>
          </p:nvSpPr>
          <p:spPr>
            <a:xfrm>
              <a:off x="798957" y="2649855"/>
              <a:ext cx="5374160"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Pipeline + synthetic end-to-end checks</a:t>
              </a:r>
            </a:p>
          </p:txBody>
        </p:sp>
        <p:sp>
          <p:nvSpPr>
            <p:cNvPr id="8" name="TextBox 8"/>
            <p:cNvSpPr txBox="1"/>
            <p:nvPr/>
          </p:nvSpPr>
          <p:spPr>
            <a:xfrm>
              <a:off x="798957" y="3088005"/>
              <a:ext cx="4588711"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Real NIST data + availability audit</a:t>
              </a:r>
            </a:p>
          </p:txBody>
        </p:sp>
        <p:sp>
          <p:nvSpPr>
            <p:cNvPr id="9" name="TextBox 9"/>
            <p:cNvSpPr txBox="1"/>
            <p:nvPr/>
          </p:nvSpPr>
          <p:spPr>
            <a:xfrm>
              <a:off x="798957" y="3526155"/>
              <a:ext cx="3888619"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Chronological feature splits</a:t>
              </a:r>
            </a:p>
          </p:txBody>
        </p:sp>
        <p:sp>
          <p:nvSpPr>
            <p:cNvPr id="10" name="TextBox 10"/>
            <p:cNvSpPr txBox="1"/>
            <p:nvPr/>
          </p:nvSpPr>
          <p:spPr>
            <a:xfrm>
              <a:off x="798957" y="3964305"/>
              <a:ext cx="5005976"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Train-only profiling + execution plan</a:t>
              </a:r>
            </a:p>
          </p:txBody>
        </p:sp>
        <p:sp>
          <p:nvSpPr>
            <p:cNvPr id="11" name="Freeform 11"/>
            <p:cNvSpPr/>
            <p:nvPr/>
          </p:nvSpPr>
          <p:spPr>
            <a:xfrm>
              <a:off x="828675" y="4448175"/>
              <a:ext cx="4600575" cy="28575"/>
            </a:xfrm>
            <a:custGeom>
              <a:avLst/>
              <a:gdLst/>
              <a:ahLst/>
              <a:cxnLst/>
              <a:rect l="l" t="t" r="r" b="b"/>
              <a:pathLst>
                <a:path w="4600575" h="28575">
                  <a:moveTo>
                    <a:pt x="0" y="0"/>
                  </a:moveTo>
                  <a:lnTo>
                    <a:pt x="4600575" y="28575"/>
                  </a:lnTo>
                </a:path>
              </a:pathLst>
            </a:custGeom>
            <a:noFill/>
            <a:ln w="23812">
              <a:solidFill>
                <a:schemeClr val="accent5"/>
              </a:solidFill>
            </a:ln>
          </p:spPr>
        </p:sp>
        <p:sp>
          <p:nvSpPr>
            <p:cNvPr id="12" name="TextBox 12"/>
            <p:cNvSpPr txBox="1"/>
            <p:nvPr/>
          </p:nvSpPr>
          <p:spPr>
            <a:xfrm>
              <a:off x="801243" y="4679632"/>
              <a:ext cx="5166278"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Full training and holdout performance: NOT RUN</a:t>
              </a:r>
            </a:p>
          </p:txBody>
        </p:sp>
      </p:grpSp>
      <p:grpSp>
        <p:nvGrpSpPr>
          <p:cNvPr id="20" name="Group 20"/>
          <p:cNvGrpSpPr/>
          <p:nvPr/>
        </p:nvGrpSpPr>
        <p:grpSpPr>
          <a:xfrm>
            <a:off x="6934200" y="2155508"/>
            <a:ext cx="3434278" cy="3132581"/>
            <a:chOff x="6934200" y="2155508"/>
            <a:chExt cx="3434278" cy="3132581"/>
          </a:xfrm>
        </p:grpSpPr>
        <p:sp>
          <p:nvSpPr>
            <p:cNvPr id="14" name="TextBox 14"/>
            <p:cNvSpPr txBox="1"/>
            <p:nvPr/>
          </p:nvSpPr>
          <p:spPr>
            <a:xfrm>
              <a:off x="6944868" y="2155508"/>
              <a:ext cx="3337712" cy="322707"/>
            </a:xfrm>
            <a:prstGeom prst="rect">
              <a:avLst/>
            </a:prstGeom>
            <a:noFill/>
            <a:ln>
              <a:noFill/>
            </a:ln>
          </p:spPr>
          <p:txBody>
            <a:bodyPr wrap="none" lIns="0" tIns="0" rIns="0" bIns="0" anchor="t" anchorCtr="0">
              <a:spAutoFit/>
            </a:bodyPr>
            <a:lstStyle/>
            <a:p>
              <a:pPr algn="l"/>
              <a:r>
                <a:rPr lang="en-US" sz="1650" dirty="0">
                  <a:solidFill>
                    <a:schemeClr val="accent6"/>
                  </a:solidFill>
                  <a:latin typeface="+mn-lt"/>
                  <a:ea typeface="+mn-ea"/>
                  <a:cs typeface="+mn-cs"/>
                </a:rPr>
                <a:t>BENCHMARK STAGE PROJECTION</a:t>
              </a:r>
            </a:p>
          </p:txBody>
        </p:sp>
        <p:sp>
          <p:nvSpPr>
            <p:cNvPr id="15" name="TextBox 15"/>
            <p:cNvSpPr txBox="1"/>
            <p:nvPr/>
          </p:nvSpPr>
          <p:spPr>
            <a:xfrm>
              <a:off x="6934200" y="2626042"/>
              <a:ext cx="2526611" cy="847725"/>
            </a:xfrm>
            <a:prstGeom prst="rect">
              <a:avLst/>
            </a:prstGeom>
            <a:noFill/>
            <a:ln>
              <a:noFill/>
            </a:ln>
          </p:spPr>
          <p:txBody>
            <a:bodyPr wrap="none" lIns="0" tIns="0" rIns="0" bIns="0" anchor="t" anchorCtr="0">
              <a:spAutoFit/>
            </a:bodyPr>
            <a:lstStyle/>
            <a:p>
              <a:pPr algn="l"/>
              <a:r>
                <a:rPr lang="en-US" sz="4350" b="1" dirty="0">
                  <a:solidFill>
                    <a:srgbClr val="F7F9FC"/>
                  </a:solidFill>
                  <a:latin typeface="+mn-lt"/>
                  <a:ea typeface="+mn-ea"/>
                  <a:cs typeface="+mn-cs"/>
                </a:rPr>
                <a:t>33.4 GiB</a:t>
              </a:r>
            </a:p>
          </p:txBody>
        </p:sp>
        <p:sp>
          <p:nvSpPr>
            <p:cNvPr id="16" name="TextBox 16"/>
            <p:cNvSpPr txBox="1"/>
            <p:nvPr/>
          </p:nvSpPr>
          <p:spPr>
            <a:xfrm>
              <a:off x="6942582" y="3249930"/>
              <a:ext cx="2749794" cy="410718"/>
            </a:xfrm>
            <a:prstGeom prst="rect">
              <a:avLst/>
            </a:prstGeom>
            <a:noFill/>
            <a:ln>
              <a:noFill/>
            </a:ln>
          </p:spPr>
          <p:txBody>
            <a:bodyPr wrap="none" lIns="0" tIns="0" rIns="0" bIns="0" anchor="t" anchorCtr="0">
              <a:spAutoFit/>
            </a:bodyPr>
            <a:lstStyle/>
            <a:p>
              <a:pPr algn="l"/>
              <a:r>
                <a:rPr lang="en-US" sz="2100" dirty="0">
                  <a:solidFill>
                    <a:srgbClr val="E7EDF4"/>
                  </a:solidFill>
                  <a:latin typeface="+mn-lt"/>
                  <a:ea typeface="+mn-ea"/>
                  <a:cs typeface="+mn-cs"/>
                </a:rPr>
                <a:t>estimated peak RAM</a:t>
              </a:r>
            </a:p>
          </p:txBody>
        </p:sp>
        <p:sp>
          <p:nvSpPr>
            <p:cNvPr id="17" name="TextBox 17"/>
            <p:cNvSpPr txBox="1"/>
            <p:nvPr/>
          </p:nvSpPr>
          <p:spPr>
            <a:xfrm>
              <a:off x="6934200" y="3778568"/>
              <a:ext cx="1913474" cy="847725"/>
            </a:xfrm>
            <a:prstGeom prst="rect">
              <a:avLst/>
            </a:prstGeom>
            <a:noFill/>
            <a:ln>
              <a:noFill/>
            </a:ln>
          </p:spPr>
          <p:txBody>
            <a:bodyPr wrap="none" lIns="0" tIns="0" rIns="0" bIns="0" anchor="t" anchorCtr="0">
              <a:spAutoFit/>
            </a:bodyPr>
            <a:lstStyle/>
            <a:p>
              <a:pPr algn="l"/>
              <a:r>
                <a:rPr lang="en-US" sz="4350" b="1" dirty="0">
                  <a:solidFill>
                    <a:srgbClr val="F7F9FC"/>
                  </a:solidFill>
                  <a:latin typeface="+mn-lt"/>
                  <a:ea typeface="+mn-ea"/>
                  <a:cs typeface="+mn-cs"/>
                </a:rPr>
                <a:t>~111 h</a:t>
              </a:r>
            </a:p>
          </p:txBody>
        </p:sp>
        <p:sp>
          <p:nvSpPr>
            <p:cNvPr id="18" name="TextBox 18"/>
            <p:cNvSpPr txBox="1"/>
            <p:nvPr/>
          </p:nvSpPr>
          <p:spPr>
            <a:xfrm>
              <a:off x="6942582" y="4402455"/>
              <a:ext cx="3187598" cy="410718"/>
            </a:xfrm>
            <a:prstGeom prst="rect">
              <a:avLst/>
            </a:prstGeom>
            <a:noFill/>
            <a:ln>
              <a:noFill/>
            </a:ln>
          </p:spPr>
          <p:txBody>
            <a:bodyPr wrap="none" lIns="0" tIns="0" rIns="0" bIns="0" anchor="t" anchorCtr="0">
              <a:spAutoFit/>
            </a:bodyPr>
            <a:lstStyle/>
            <a:p>
              <a:pPr algn="l"/>
              <a:r>
                <a:rPr lang="en-US" sz="2100" dirty="0">
                  <a:solidFill>
                    <a:srgbClr val="E7EDF4"/>
                  </a:solidFill>
                  <a:latin typeface="+mn-lt"/>
                  <a:ea typeface="+mn-ea"/>
                  <a:cs typeface="+mn-cs"/>
                </a:rPr>
                <a:t>whole benchmark stage</a:t>
              </a:r>
            </a:p>
          </p:txBody>
        </p:sp>
        <p:sp>
          <p:nvSpPr>
            <p:cNvPr id="19" name="TextBox 19"/>
            <p:cNvSpPr txBox="1"/>
            <p:nvPr/>
          </p:nvSpPr>
          <p:spPr>
            <a:xfrm>
              <a:off x="6944868" y="4965382"/>
              <a:ext cx="3423610"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Baseline stage: ~72 h projected</a:t>
              </a:r>
            </a:p>
          </p:txBody>
        </p:sp>
      </p:grpSp>
      <p:grpSp>
        <p:nvGrpSpPr>
          <p:cNvPr id="23" name="Group 23"/>
          <p:cNvGrpSpPr/>
          <p:nvPr/>
        </p:nvGrpSpPr>
        <p:grpSpPr>
          <a:xfrm>
            <a:off x="798957" y="5497830"/>
            <a:ext cx="7533942" cy="608076"/>
            <a:chOff x="798957" y="5497830"/>
            <a:chExt cx="7533942" cy="608076"/>
          </a:xfrm>
        </p:grpSpPr>
        <p:sp>
          <p:nvSpPr>
            <p:cNvPr id="21" name="TextBox 21"/>
            <p:cNvSpPr txBox="1"/>
            <p:nvPr/>
          </p:nvSpPr>
          <p:spPr>
            <a:xfrm>
              <a:off x="798957" y="5497830"/>
              <a:ext cx="6646164" cy="410718"/>
            </a:xfrm>
            <a:prstGeom prst="rect">
              <a:avLst/>
            </a:prstGeom>
            <a:noFill/>
            <a:ln>
              <a:noFill/>
            </a:ln>
          </p:spPr>
          <p:txBody>
            <a:bodyPr wrap="none" lIns="0" tIns="0" rIns="0" bIns="0" anchor="t" anchorCtr="0">
              <a:spAutoFit/>
            </a:bodyPr>
            <a:lstStyle/>
            <a:p>
              <a:pPr algn="l"/>
              <a:r>
                <a:rPr lang="en-US" sz="2100" dirty="0">
                  <a:solidFill>
                    <a:schemeClr val="accent5"/>
                  </a:solidFill>
                  <a:latin typeface="+mn-lt"/>
                  <a:ea typeface="+mn-ea"/>
                  <a:cs typeface="+mn-cs"/>
                </a:rPr>
                <a:t>Next: verify cloud capacity before the full run.</a:t>
              </a:r>
            </a:p>
          </p:txBody>
        </p:sp>
        <p:sp>
          <p:nvSpPr>
            <p:cNvPr id="22" name="TextBox 22"/>
            <p:cNvSpPr txBox="1"/>
            <p:nvPr/>
          </p:nvSpPr>
          <p:spPr>
            <a:xfrm>
              <a:off x="803529" y="5871210"/>
              <a:ext cx="7529370"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Profiling extrapolations with safety factors — not measured full-run timings or model results.</a:t>
              </a:r>
            </a:p>
          </p:txBody>
        </p:sp>
      </p:grpSp>
      <p:grpSp>
        <p:nvGrpSpPr>
          <p:cNvPr id="26" name="Group 26"/>
          <p:cNvGrpSpPr/>
          <p:nvPr/>
        </p:nvGrpSpPr>
        <p:grpSpPr>
          <a:xfrm>
            <a:off x="755904" y="6214110"/>
            <a:ext cx="10632567" cy="234696"/>
            <a:chOff x="755904" y="6214110"/>
            <a:chExt cx="10632567" cy="234696"/>
          </a:xfrm>
        </p:grpSpPr>
        <p:sp>
          <p:nvSpPr>
            <p:cNvPr id="24" name="TextBox 24"/>
            <p:cNvSpPr txBox="1"/>
            <p:nvPr/>
          </p:nvSpPr>
          <p:spPr>
            <a:xfrm>
              <a:off x="755904" y="6214110"/>
              <a:ext cx="9342775"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Source: controller state and immutable execution plan, 16 Oct 2026 · Route: local-failed/cloud-verification-required</a:t>
              </a:r>
            </a:p>
          </p:txBody>
        </p:sp>
        <p:sp>
          <p:nvSpPr>
            <p:cNvPr id="25" name="TextBox 25"/>
            <p:cNvSpPr txBox="1"/>
            <p:nvPr/>
          </p:nvSpPr>
          <p:spPr>
            <a:xfrm>
              <a:off x="10835107" y="6214110"/>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190500" y="190500"/>
            <a:ext cx="11811000" cy="6477000"/>
          </a:xfrm>
          <a:prstGeom prst="rect">
            <a:avLst/>
          </a:prstGeom>
          <a:solidFill>
            <a:schemeClr val="accent1"/>
          </a:solidFill>
          <a:ln>
            <a:noFill/>
          </a:ln>
        </p:spPr>
      </p:sp>
      <p:grpSp>
        <p:nvGrpSpPr>
          <p:cNvPr id="5" name="Group 5"/>
          <p:cNvGrpSpPr/>
          <p:nvPr/>
        </p:nvGrpSpPr>
        <p:grpSpPr>
          <a:xfrm>
            <a:off x="742950" y="717232"/>
            <a:ext cx="8854988" cy="1087755"/>
            <a:chOff x="742950" y="717232"/>
            <a:chExt cx="8854988" cy="1087755"/>
          </a:xfrm>
        </p:grpSpPr>
        <p:sp>
          <p:nvSpPr>
            <p:cNvPr id="3" name="TextBox 3"/>
            <p:cNvSpPr txBox="1"/>
            <p:nvPr/>
          </p:nvSpPr>
          <p:spPr>
            <a:xfrm>
              <a:off x="753618" y="717232"/>
              <a:ext cx="255148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09 / THE NEXT DECISION</a:t>
              </a:r>
            </a:p>
          </p:txBody>
        </p:sp>
        <p:sp>
          <p:nvSpPr>
            <p:cNvPr id="4" name="TextBox 4"/>
            <p:cNvSpPr txBox="1"/>
            <p:nvPr/>
          </p:nvSpPr>
          <p:spPr>
            <a:xfrm>
              <a:off x="742950" y="1071562"/>
              <a:ext cx="8854988" cy="733425"/>
            </a:xfrm>
            <a:prstGeom prst="rect">
              <a:avLst/>
            </a:prstGeom>
            <a:noFill/>
            <a:ln>
              <a:noFill/>
            </a:ln>
          </p:spPr>
          <p:txBody>
            <a:bodyPr wrap="none" lIns="0" tIns="0" rIns="0" bIns="0" anchor="t" anchorCtr="0">
              <a:spAutoFit/>
            </a:bodyPr>
            <a:lstStyle/>
            <a:p>
              <a:pPr algn="l"/>
              <a:r>
                <a:rPr lang="en-US" sz="3750" b="1" dirty="0">
                  <a:solidFill>
                    <a:srgbClr val="F7F9FC"/>
                  </a:solidFill>
                  <a:latin typeface="+mn-lt"/>
                  <a:ea typeface="+mn-ea"/>
                  <a:cs typeface="+mn-cs"/>
                </a:rPr>
                <a:t>Earn the next stage with evidence</a:t>
              </a:r>
            </a:p>
          </p:txBody>
        </p:sp>
      </p:grpSp>
      <p:grpSp>
        <p:nvGrpSpPr>
          <p:cNvPr id="16" name="Group 16"/>
          <p:cNvGrpSpPr/>
          <p:nvPr/>
        </p:nvGrpSpPr>
        <p:grpSpPr>
          <a:xfrm>
            <a:off x="795147" y="2264092"/>
            <a:ext cx="10498836" cy="1242823"/>
            <a:chOff x="795147" y="2264092"/>
            <a:chExt cx="10498836" cy="1242823"/>
          </a:xfrm>
        </p:grpSpPr>
        <p:sp>
          <p:nvSpPr>
            <p:cNvPr id="6" name="TextBox 6"/>
            <p:cNvSpPr txBox="1"/>
            <p:nvPr/>
          </p:nvSpPr>
          <p:spPr>
            <a:xfrm>
              <a:off x="795147" y="2264092"/>
              <a:ext cx="250524" cy="557403"/>
            </a:xfrm>
            <a:prstGeom prst="rect">
              <a:avLst/>
            </a:prstGeom>
            <a:noFill/>
            <a:ln>
              <a:noFill/>
            </a:ln>
          </p:spPr>
          <p:txBody>
            <a:bodyPr wrap="none" lIns="0" tIns="0" rIns="0" bIns="0" anchor="t" anchorCtr="0">
              <a:spAutoFit/>
            </a:bodyPr>
            <a:lstStyle/>
            <a:p>
              <a:pPr algn="l"/>
              <a:r>
                <a:rPr lang="en-US" sz="2850" b="1" dirty="0">
                  <a:solidFill>
                    <a:schemeClr val="accent5"/>
                  </a:solidFill>
                  <a:latin typeface="+mn-lt"/>
                  <a:ea typeface="+mn-ea"/>
                  <a:cs typeface="+mn-cs"/>
                </a:rPr>
                <a:t>1</a:t>
              </a:r>
            </a:p>
          </p:txBody>
        </p:sp>
        <p:sp>
          <p:nvSpPr>
            <p:cNvPr id="7" name="TextBox 7"/>
            <p:cNvSpPr txBox="1"/>
            <p:nvPr/>
          </p:nvSpPr>
          <p:spPr>
            <a:xfrm>
              <a:off x="798957" y="2773680"/>
              <a:ext cx="2150174"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Verify capacity</a:t>
              </a:r>
            </a:p>
          </p:txBody>
        </p:sp>
        <p:sp>
          <p:nvSpPr>
            <p:cNvPr id="8" name="Line 8"/>
            <p:cNvSpPr/>
            <p:nvPr/>
          </p:nvSpPr>
          <p:spPr>
            <a:xfrm>
              <a:off x="2952750" y="2752725"/>
              <a:ext cx="752475" cy="1"/>
            </a:xfrm>
            <a:prstGeom prst="line">
              <a:avLst/>
            </a:prstGeom>
            <a:noFill/>
            <a:ln w="23812">
              <a:solidFill>
                <a:schemeClr val="accent5"/>
              </a:solidFill>
              <a:tailEnd type="triangle" w="lg" len="lg"/>
            </a:ln>
          </p:spPr>
        </p:sp>
        <p:sp>
          <p:nvSpPr>
            <p:cNvPr id="9" name="TextBox 9"/>
            <p:cNvSpPr txBox="1"/>
            <p:nvPr/>
          </p:nvSpPr>
          <p:spPr>
            <a:xfrm>
              <a:off x="4205097" y="2264092"/>
              <a:ext cx="250524" cy="557403"/>
            </a:xfrm>
            <a:prstGeom prst="rect">
              <a:avLst/>
            </a:prstGeom>
            <a:noFill/>
            <a:ln>
              <a:noFill/>
            </a:ln>
          </p:spPr>
          <p:txBody>
            <a:bodyPr wrap="none" lIns="0" tIns="0" rIns="0" bIns="0" anchor="t" anchorCtr="0">
              <a:spAutoFit/>
            </a:bodyPr>
            <a:lstStyle/>
            <a:p>
              <a:pPr algn="l"/>
              <a:r>
                <a:rPr lang="en-US" sz="2850" b="1" dirty="0">
                  <a:solidFill>
                    <a:schemeClr val="accent5"/>
                  </a:solidFill>
                  <a:latin typeface="+mn-lt"/>
                  <a:ea typeface="+mn-ea"/>
                  <a:cs typeface="+mn-cs"/>
                </a:rPr>
                <a:t>2</a:t>
              </a:r>
            </a:p>
          </p:txBody>
        </p:sp>
        <p:sp>
          <p:nvSpPr>
            <p:cNvPr id="10" name="TextBox 10"/>
            <p:cNvSpPr txBox="1"/>
            <p:nvPr/>
          </p:nvSpPr>
          <p:spPr>
            <a:xfrm>
              <a:off x="4208907" y="2773680"/>
              <a:ext cx="2518501"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Run frozen models</a:t>
              </a:r>
            </a:p>
          </p:txBody>
        </p:sp>
        <p:sp>
          <p:nvSpPr>
            <p:cNvPr id="11" name="TextBox 11"/>
            <p:cNvSpPr txBox="1"/>
            <p:nvPr/>
          </p:nvSpPr>
          <p:spPr>
            <a:xfrm>
              <a:off x="4211193" y="3184208"/>
              <a:ext cx="3170911"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baselines + photonic controls</a:t>
              </a:r>
            </a:p>
          </p:txBody>
        </p:sp>
        <p:sp>
          <p:nvSpPr>
            <p:cNvPr id="12" name="Line 12"/>
            <p:cNvSpPr/>
            <p:nvPr/>
          </p:nvSpPr>
          <p:spPr>
            <a:xfrm>
              <a:off x="7429500" y="2752725"/>
              <a:ext cx="752475" cy="1"/>
            </a:xfrm>
            <a:prstGeom prst="line">
              <a:avLst/>
            </a:prstGeom>
            <a:noFill/>
            <a:ln w="23812">
              <a:solidFill>
                <a:schemeClr val="accent5"/>
              </a:solidFill>
              <a:tailEnd type="triangle" w="lg" len="lg"/>
            </a:ln>
          </p:spPr>
        </p:sp>
        <p:sp>
          <p:nvSpPr>
            <p:cNvPr id="13" name="TextBox 13"/>
            <p:cNvSpPr txBox="1"/>
            <p:nvPr/>
          </p:nvSpPr>
          <p:spPr>
            <a:xfrm>
              <a:off x="8605647" y="2264092"/>
              <a:ext cx="250524" cy="557403"/>
            </a:xfrm>
            <a:prstGeom prst="rect">
              <a:avLst/>
            </a:prstGeom>
            <a:noFill/>
            <a:ln>
              <a:noFill/>
            </a:ln>
          </p:spPr>
          <p:txBody>
            <a:bodyPr wrap="none" lIns="0" tIns="0" rIns="0" bIns="0" anchor="t" anchorCtr="0">
              <a:spAutoFit/>
            </a:bodyPr>
            <a:lstStyle/>
            <a:p>
              <a:pPr algn="l"/>
              <a:r>
                <a:rPr lang="en-US" sz="2850" b="1" dirty="0">
                  <a:solidFill>
                    <a:schemeClr val="accent6"/>
                  </a:solidFill>
                  <a:latin typeface="+mn-lt"/>
                  <a:ea typeface="+mn-ea"/>
                  <a:cs typeface="+mn-cs"/>
                </a:rPr>
                <a:t>3</a:t>
              </a:r>
            </a:p>
          </p:txBody>
        </p:sp>
        <p:sp>
          <p:nvSpPr>
            <p:cNvPr id="14" name="TextBox 14"/>
            <p:cNvSpPr txBox="1"/>
            <p:nvPr/>
          </p:nvSpPr>
          <p:spPr>
            <a:xfrm>
              <a:off x="8609457" y="2773680"/>
              <a:ext cx="1914606" cy="410718"/>
            </a:xfrm>
            <a:prstGeom prst="rect">
              <a:avLst/>
            </a:prstGeom>
            <a:noFill/>
            <a:ln>
              <a:noFill/>
            </a:ln>
          </p:spPr>
          <p:txBody>
            <a:bodyPr wrap="none" lIns="0" tIns="0" rIns="0" bIns="0" anchor="t" anchorCtr="0">
              <a:spAutoFit/>
            </a:bodyPr>
            <a:lstStyle/>
            <a:p>
              <a:pPr algn="l"/>
              <a:r>
                <a:rPr lang="en-US" sz="2100" dirty="0">
                  <a:solidFill>
                    <a:srgbClr val="F7F9FC"/>
                  </a:solidFill>
                  <a:latin typeface="+mn-lt"/>
                  <a:ea typeface="+mn-ea"/>
                  <a:cs typeface="+mn-cs"/>
                </a:rPr>
                <a:t>Evaluate 2017</a:t>
              </a:r>
            </a:p>
          </p:txBody>
        </p:sp>
        <p:sp>
          <p:nvSpPr>
            <p:cNvPr id="15" name="TextBox 15"/>
            <p:cNvSpPr txBox="1"/>
            <p:nvPr/>
          </p:nvSpPr>
          <p:spPr>
            <a:xfrm>
              <a:off x="8611743" y="3184208"/>
              <a:ext cx="2682240"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after selection is locked</a:t>
              </a:r>
            </a:p>
          </p:txBody>
        </p:sp>
      </p:grpSp>
      <p:grpSp>
        <p:nvGrpSpPr>
          <p:cNvPr id="20" name="Group 20"/>
          <p:cNvGrpSpPr/>
          <p:nvPr/>
        </p:nvGrpSpPr>
        <p:grpSpPr>
          <a:xfrm>
            <a:off x="798957" y="3869055"/>
            <a:ext cx="7842053" cy="809434"/>
            <a:chOff x="798957" y="3869055"/>
            <a:chExt cx="7842053" cy="809434"/>
          </a:xfrm>
        </p:grpSpPr>
        <p:sp>
          <p:nvSpPr>
            <p:cNvPr id="17" name="TextBox 17"/>
            <p:cNvSpPr txBox="1"/>
            <p:nvPr/>
          </p:nvSpPr>
          <p:spPr>
            <a:xfrm>
              <a:off x="798957" y="3869055"/>
              <a:ext cx="2799283" cy="410718"/>
            </a:xfrm>
            <a:prstGeom prst="rect">
              <a:avLst/>
            </a:prstGeom>
            <a:noFill/>
            <a:ln>
              <a:noFill/>
            </a:ln>
          </p:spPr>
          <p:txBody>
            <a:bodyPr wrap="none" lIns="0" tIns="0" rIns="0" bIns="0" anchor="t" anchorCtr="0">
              <a:spAutoFit/>
            </a:bodyPr>
            <a:lstStyle/>
            <a:p>
              <a:pPr algn="l"/>
              <a:r>
                <a:rPr lang="en-US" sz="2100" dirty="0">
                  <a:solidFill>
                    <a:schemeClr val="accent6"/>
                  </a:solidFill>
                  <a:latin typeface="+mn-lt"/>
                  <a:ea typeface="+mn-ea"/>
                  <a:cs typeface="+mn-cs"/>
                </a:rPr>
                <a:t>GO / EXTEND / STOP</a:t>
              </a:r>
            </a:p>
          </p:txBody>
        </p:sp>
        <p:sp>
          <p:nvSpPr>
            <p:cNvPr id="18" name="TextBox 18"/>
            <p:cNvSpPr txBox="1"/>
            <p:nvPr/>
          </p:nvSpPr>
          <p:spPr>
            <a:xfrm>
              <a:off x="4589907" y="3869055"/>
              <a:ext cx="4051103" cy="410718"/>
            </a:xfrm>
            <a:prstGeom prst="rect">
              <a:avLst/>
            </a:prstGeom>
            <a:noFill/>
            <a:ln>
              <a:noFill/>
            </a:ln>
          </p:spPr>
          <p:txBody>
            <a:bodyPr wrap="none" lIns="0" tIns="0" rIns="0" bIns="0" anchor="t" anchorCtr="0">
              <a:spAutoFit/>
            </a:bodyPr>
            <a:lstStyle/>
            <a:p>
              <a:pPr algn="l"/>
              <a:r>
                <a:rPr lang="en-US" sz="2100" dirty="0">
                  <a:solidFill>
                    <a:srgbClr val="E7EDF4"/>
                  </a:solidFill>
                  <a:latin typeface="+mn-lt"/>
                  <a:ea typeface="+mn-ea"/>
                  <a:cs typeface="+mn-cs"/>
                </a:rPr>
                <a:t>WIS · calibration · resources</a:t>
              </a:r>
            </a:p>
          </p:txBody>
        </p:sp>
        <p:sp>
          <p:nvSpPr>
            <p:cNvPr id="19" name="TextBox 19"/>
            <p:cNvSpPr txBox="1"/>
            <p:nvPr/>
          </p:nvSpPr>
          <p:spPr>
            <a:xfrm>
              <a:off x="801243" y="4355782"/>
              <a:ext cx="7254309" cy="322707"/>
            </a:xfrm>
            <a:prstGeom prst="rect">
              <a:avLst/>
            </a:prstGeom>
            <a:noFill/>
            <a:ln>
              <a:noFill/>
            </a:ln>
          </p:spPr>
          <p:txBody>
            <a:bodyPr wrap="none" lIns="0" tIns="0" rIns="0" bIns="0" anchor="t" anchorCtr="0">
              <a:spAutoFit/>
            </a:bodyPr>
            <a:lstStyle/>
            <a:p>
              <a:pPr algn="l"/>
              <a:r>
                <a:rPr lang="en-US" sz="1650" dirty="0">
                  <a:solidFill>
                    <a:srgbClr val="E7EDF4"/>
                  </a:solidFill>
                  <a:latin typeface="+mn-lt"/>
                  <a:ea typeface="+mn-ea"/>
                  <a:cs typeface="+mn-cs"/>
                </a:rPr>
                <a:t>Only then: finite shots and loss → hardware validation if justified.</a:t>
              </a:r>
            </a:p>
          </p:txBody>
        </p:sp>
      </p:grpSp>
      <p:grpSp>
        <p:nvGrpSpPr>
          <p:cNvPr id="24" name="Group 24"/>
          <p:cNvGrpSpPr/>
          <p:nvPr/>
        </p:nvGrpSpPr>
        <p:grpSpPr>
          <a:xfrm>
            <a:off x="795147" y="4978718"/>
            <a:ext cx="7415027" cy="1033653"/>
            <a:chOff x="795147" y="4978718"/>
            <a:chExt cx="7415027" cy="1033653"/>
          </a:xfrm>
        </p:grpSpPr>
        <p:sp>
          <p:nvSpPr>
            <p:cNvPr id="21" name="TextBox 21"/>
            <p:cNvSpPr txBox="1"/>
            <p:nvPr/>
          </p:nvSpPr>
          <p:spPr>
            <a:xfrm>
              <a:off x="795147" y="4978718"/>
              <a:ext cx="7415027" cy="557403"/>
            </a:xfrm>
            <a:prstGeom prst="rect">
              <a:avLst/>
            </a:prstGeom>
            <a:noFill/>
            <a:ln>
              <a:noFill/>
            </a:ln>
          </p:spPr>
          <p:txBody>
            <a:bodyPr wrap="none" lIns="0" tIns="0" rIns="0" bIns="0" anchor="t" anchorCtr="0">
              <a:spAutoFit/>
            </a:bodyPr>
            <a:lstStyle/>
            <a:p>
              <a:pPr algn="l"/>
              <a:r>
                <a:rPr lang="en-US" sz="2850" b="1" dirty="0">
                  <a:solidFill>
                    <a:srgbClr val="F7F9FC"/>
                  </a:solidFill>
                  <a:latin typeface="+mn-lt"/>
                  <a:ea typeface="+mn-ea"/>
                  <a:cs typeface="+mn-cs"/>
                </a:rPr>
                <a:t>Test whether the quantum component</a:t>
              </a:r>
            </a:p>
          </p:txBody>
        </p:sp>
        <p:sp>
          <p:nvSpPr>
            <p:cNvPr id="22" name="TextBox 22"/>
            <p:cNvSpPr txBox="1"/>
            <p:nvPr/>
          </p:nvSpPr>
          <p:spPr>
            <a:xfrm>
              <a:off x="795147" y="5454968"/>
              <a:ext cx="3171189" cy="557403"/>
            </a:xfrm>
            <a:prstGeom prst="rect">
              <a:avLst/>
            </a:prstGeom>
            <a:noFill/>
            <a:ln>
              <a:noFill/>
            </a:ln>
          </p:spPr>
          <p:txBody>
            <a:bodyPr wrap="none" lIns="0" tIns="0" rIns="0" bIns="0" anchor="t" anchorCtr="0">
              <a:spAutoFit/>
            </a:bodyPr>
            <a:lstStyle/>
            <a:p>
              <a:pPr algn="l"/>
              <a:r>
                <a:rPr lang="en-US" sz="2850" b="1" dirty="0">
                  <a:solidFill>
                    <a:schemeClr val="accent5"/>
                  </a:solidFill>
                  <a:latin typeface="+mn-lt"/>
                  <a:ea typeface="+mn-ea"/>
                  <a:cs typeface="+mn-cs"/>
                </a:rPr>
                <a:t>earns its place.</a:t>
              </a:r>
            </a:p>
          </p:txBody>
        </p:sp>
        <p:sp>
          <p:nvSpPr>
            <p:cNvPr id="23" name="Freeform 23"/>
            <p:cNvSpPr/>
            <p:nvPr/>
          </p:nvSpPr>
          <p:spPr>
            <a:xfrm>
              <a:off x="819150" y="5886450"/>
              <a:ext cx="2514600" cy="47625"/>
            </a:xfrm>
            <a:custGeom>
              <a:avLst/>
              <a:gdLst/>
              <a:ahLst/>
              <a:cxnLst/>
              <a:rect l="l" t="t" r="r" b="b"/>
              <a:pathLst>
                <a:path w="2514600" h="47625">
                  <a:moveTo>
                    <a:pt x="0" y="19050"/>
                  </a:moveTo>
                  <a:lnTo>
                    <a:pt x="1323975" y="0"/>
                  </a:lnTo>
                  <a:lnTo>
                    <a:pt x="2514600" y="47625"/>
                  </a:lnTo>
                </a:path>
              </a:pathLst>
            </a:custGeom>
            <a:noFill/>
            <a:ln w="28575" cap="rnd">
              <a:solidFill>
                <a:schemeClr val="accent5"/>
              </a:solidFill>
            </a:ln>
          </p:spPr>
        </p:sp>
      </p:grpSp>
      <p:grpSp>
        <p:nvGrpSpPr>
          <p:cNvPr id="27" name="Group 27"/>
          <p:cNvGrpSpPr/>
          <p:nvPr/>
        </p:nvGrpSpPr>
        <p:grpSpPr>
          <a:xfrm>
            <a:off x="755904" y="6204585"/>
            <a:ext cx="10632567" cy="234696"/>
            <a:chOff x="755904" y="6204585"/>
            <a:chExt cx="10632567" cy="234696"/>
          </a:xfrm>
        </p:grpSpPr>
        <p:sp>
          <p:nvSpPr>
            <p:cNvPr id="25" name="TextBox 25"/>
            <p:cNvSpPr txBox="1"/>
            <p:nvPr/>
          </p:nvSpPr>
          <p:spPr>
            <a:xfrm>
              <a:off x="755904" y="6204585"/>
              <a:ext cx="6849201" cy="234696"/>
            </a:xfrm>
            <a:prstGeom prst="rect">
              <a:avLst/>
            </a:prstGeom>
            <a:noFill/>
            <a:ln>
              <a:noFill/>
            </a:ln>
          </p:spPr>
          <p:txBody>
            <a:bodyPr wrap="none" lIns="0" tIns="0" rIns="0" bIns="0" anchor="t" anchorCtr="0">
              <a:spAutoFit/>
            </a:bodyPr>
            <a:lstStyle/>
            <a:p>
              <a:pPr algn="l"/>
              <a:r>
                <a:rPr lang="en-US" sz="1200" dirty="0">
                  <a:solidFill>
                    <a:srgbClr val="E7EDF4"/>
                  </a:solidFill>
                  <a:latin typeface="+mn-lt"/>
                  <a:ea typeface="+mn-ea"/>
                  <a:cs typeface="+mn-cs"/>
                </a:rPr>
                <a:t>Photonic PV Pilot · Research plan and next action, not a promise of quantum advantage</a:t>
              </a:r>
            </a:p>
          </p:txBody>
        </p:sp>
        <p:sp>
          <p:nvSpPr>
            <p:cNvPr id="26" name="TextBox 26"/>
            <p:cNvSpPr txBox="1"/>
            <p:nvPr/>
          </p:nvSpPr>
          <p:spPr>
            <a:xfrm>
              <a:off x="10835107" y="6204585"/>
              <a:ext cx="553364" cy="234696"/>
            </a:xfrm>
            <a:prstGeom prst="rect">
              <a:avLst/>
            </a:prstGeom>
            <a:noFill/>
            <a:ln>
              <a:noFill/>
            </a:ln>
          </p:spPr>
          <p:txBody>
            <a:bodyPr wrap="none" lIns="0" tIns="0" rIns="0" bIns="0" anchor="t" anchorCtr="0">
              <a:spAutoFit/>
            </a:bodyPr>
            <a:lstStyle/>
            <a:p>
              <a:pPr algn="r"/>
              <a:r>
                <a:rPr lang="en-US" sz="1200" dirty="0">
                  <a:solidFill>
                    <a:srgbClr val="E7EDF4"/>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hotonic_pv_overview_10slides">
  <a:themeElements>
    <a:clrScheme name="photonic_pv_overview_10slides">
      <a:dk1>
        <a:srgbClr val="223348"/>
      </a:dk1>
      <a:lt1>
        <a:srgbClr val="F7F9FC"/>
      </a:lt1>
      <a:dk2>
        <a:srgbClr val="1F497D"/>
      </a:dk2>
      <a:lt2>
        <a:srgbClr val="E7EDF4"/>
      </a:lt2>
      <a:accent1>
        <a:srgbClr val="14263D"/>
      </a:accent1>
      <a:accent2>
        <a:srgbClr val="008F86"/>
      </a:accent2>
      <a:accent3>
        <a:srgbClr val="B56A00"/>
      </a:accent3>
      <a:accent4>
        <a:srgbClr val="14263D"/>
      </a:accent4>
      <a:accent5>
        <a:srgbClr val="80C7C2"/>
      </a:accent5>
      <a:accent6>
        <a:srgbClr val="E1BA82"/>
      </a:accent6>
      <a:hlink>
        <a:srgbClr val="008F86"/>
      </a:hlink>
      <a:folHlink>
        <a:srgbClr val="B56A00"/>
      </a:folHlink>
    </a:clrScheme>
    <a:fontScheme name="photonic_pv_overview_10slide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hotonic_pv_overview_10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hotonic_pv_overview_10slides">
  <a:themeElements>
    <a:clrScheme name="photonic_pv_overview_10slides">
      <a:dk1>
        <a:srgbClr val="223348"/>
      </a:dk1>
      <a:lt1>
        <a:srgbClr val="F7F9FC"/>
      </a:lt1>
      <a:dk2>
        <a:srgbClr val="1F497D"/>
      </a:dk2>
      <a:lt2>
        <a:srgbClr val="E7EDF4"/>
      </a:lt2>
      <a:accent1>
        <a:srgbClr val="14263D"/>
      </a:accent1>
      <a:accent2>
        <a:srgbClr val="008F86"/>
      </a:accent2>
      <a:accent3>
        <a:srgbClr val="B56A00"/>
      </a:accent3>
      <a:accent4>
        <a:srgbClr val="14263D"/>
      </a:accent4>
      <a:accent5>
        <a:srgbClr val="80C7C2"/>
      </a:accent5>
      <a:accent6>
        <a:srgbClr val="E1BA82"/>
      </a:accent6>
      <a:hlink>
        <a:srgbClr val="008F86"/>
      </a:hlink>
      <a:folHlink>
        <a:srgbClr val="B56A00"/>
      </a:folHlink>
    </a:clrScheme>
    <a:fontScheme name="photonic_pv_overview_10slide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hotonic_pv_overview_10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2026-10-23T02:46:51Z</dcterms:created>
  <dcterms:modified xsi:type="dcterms:W3CDTF">2026-10-23T02:46:51Z</dcterms:modified>
  <cp:category/>
  <cp:contentStatus/>
</cp:coreProperties>
</file>